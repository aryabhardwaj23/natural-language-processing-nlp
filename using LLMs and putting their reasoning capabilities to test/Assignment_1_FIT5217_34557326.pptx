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embeddedFontLst>
    <p:embeddedFont>
      <p:font typeface="Helvetica Neue"/>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83BE41E-CBB9-4F34-AD06-E9149AF3244E}">
  <a:tblStyle styleId="{583BE41E-CBB9-4F34-AD06-E9149AF3244E}"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CACACA"/>
          </a:solidFill>
        </a:fill>
      </a:tcStyle>
    </a:wholeTbl>
    <a:band1H>
      <a:tcTxStyle/>
    </a:band1H>
    <a:band2H>
      <a:tcTxStyle b="off" i="off"/>
      <a:tcStyle>
        <a:fill>
          <a:solidFill>
            <a:srgbClr val="E6E6E6"/>
          </a:solidFill>
        </a:fill>
      </a:tcStyle>
    </a:band2H>
    <a:band1V>
      <a:tcTxStyle/>
    </a:band1V>
    <a:band2V>
      <a:tcTxStyle/>
    </a:band2V>
    <a:lastCol>
      <a:tcTxStyle/>
    </a:lastCol>
    <a:firstCol>
      <a:tcTxStyle b="on" i="off">
        <a:font>
          <a:latin typeface="Calibri"/>
          <a:ea typeface="Calibri"/>
          <a:cs typeface="Calibri"/>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000000"/>
          </a:solidFill>
        </a:fill>
      </a:tcStyle>
    </a:firstCol>
    <a:lastRow>
      <a:tcTxStyle b="on" i="off">
        <a:font>
          <a:latin typeface="Calibri"/>
          <a:ea typeface="Calibri"/>
          <a:cs typeface="Calibri"/>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381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000000"/>
          </a:solidFill>
        </a:fill>
      </a:tcStyle>
    </a:lastRow>
    <a:seCell>
      <a:tcTxStyle/>
    </a:seCell>
    <a:swCell>
      <a:tcTxStyle/>
    </a:swCell>
    <a:firstRow>
      <a:tcTxStyle b="on" i="off">
        <a:font>
          <a:latin typeface="Calibri"/>
          <a:ea typeface="Calibri"/>
          <a:cs typeface="Calibri"/>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381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000000"/>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HelveticaNeue-bold.fntdata"/><Relationship Id="rId14" Type="http://schemas.openxmlformats.org/officeDocument/2006/relationships/font" Target="fonts/HelveticaNeue-regular.fntdata"/><Relationship Id="rId17" Type="http://schemas.openxmlformats.org/officeDocument/2006/relationships/font" Target="fonts/HelveticaNeue-boldItalic.fntdata"/><Relationship Id="rId16"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title"/>
          </p:nvPr>
        </p:nvSpPr>
        <p:spPr>
          <a:xfrm>
            <a:off x="1524000" y="1122362"/>
            <a:ext cx="9144000" cy="2387601"/>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 name="Google Shape;11;p2"/>
          <p:cNvSpPr txBox="1"/>
          <p:nvPr>
            <p:ph idx="1" type="body"/>
          </p:nvPr>
        </p:nvSpPr>
        <p:spPr>
          <a:xfrm>
            <a:off x="1524000" y="3602037"/>
            <a:ext cx="9144000" cy="1655764"/>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000000"/>
              </a:buClr>
              <a:buSzPts val="2400"/>
              <a:buFont typeface="Calibri"/>
              <a:buNone/>
              <a:defRPr sz="2400"/>
            </a:lvl1pPr>
            <a:lvl2pPr indent="-228600" lvl="1" marL="914400" algn="ctr">
              <a:lnSpc>
                <a:spcPct val="90000"/>
              </a:lnSpc>
              <a:spcBef>
                <a:spcPts val="1000"/>
              </a:spcBef>
              <a:spcAft>
                <a:spcPts val="0"/>
              </a:spcAft>
              <a:buClr>
                <a:srgbClr val="000000"/>
              </a:buClr>
              <a:buSzPts val="2400"/>
              <a:buFont typeface="Calibri"/>
              <a:buNone/>
              <a:defRPr sz="2400"/>
            </a:lvl2pPr>
            <a:lvl3pPr indent="-228600" lvl="2" marL="1371600" algn="ctr">
              <a:lnSpc>
                <a:spcPct val="90000"/>
              </a:lnSpc>
              <a:spcBef>
                <a:spcPts val="1000"/>
              </a:spcBef>
              <a:spcAft>
                <a:spcPts val="0"/>
              </a:spcAft>
              <a:buClr>
                <a:srgbClr val="000000"/>
              </a:buClr>
              <a:buSzPts val="2400"/>
              <a:buFont typeface="Calibri"/>
              <a:buNone/>
              <a:defRPr sz="2400"/>
            </a:lvl3pPr>
            <a:lvl4pPr indent="-228600" lvl="3" marL="1828800" algn="ctr">
              <a:lnSpc>
                <a:spcPct val="90000"/>
              </a:lnSpc>
              <a:spcBef>
                <a:spcPts val="1000"/>
              </a:spcBef>
              <a:spcAft>
                <a:spcPts val="0"/>
              </a:spcAft>
              <a:buClr>
                <a:srgbClr val="000000"/>
              </a:buClr>
              <a:buSzPts val="2400"/>
              <a:buFont typeface="Calibri"/>
              <a:buNone/>
              <a:defRPr sz="2400"/>
            </a:lvl4pPr>
            <a:lvl5pPr indent="-228600" lvl="4" marL="2286000" algn="ctr">
              <a:lnSpc>
                <a:spcPct val="90000"/>
              </a:lnSpc>
              <a:spcBef>
                <a:spcPts val="1000"/>
              </a:spcBef>
              <a:spcAft>
                <a:spcPts val="0"/>
              </a:spcAft>
              <a:buClr>
                <a:srgbClr val="000000"/>
              </a:buClr>
              <a:buSzPts val="2400"/>
              <a:buFont typeface="Calibri"/>
              <a:buNone/>
              <a:defRPr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2" name="Google Shape;12;p2"/>
          <p:cNvSpPr txBox="1"/>
          <p:nvPr>
            <p:ph idx="12" type="sldNum"/>
          </p:nvPr>
        </p:nvSpPr>
        <p:spPr>
          <a:xfrm>
            <a:off x="11095178" y="6414761"/>
            <a:ext cx="258623" cy="24830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6" name="Google Shape;16;p3"/>
          <p:cNvSpPr txBox="1"/>
          <p:nvPr>
            <p:ph idx="12" type="sldNum"/>
          </p:nvPr>
        </p:nvSpPr>
        <p:spPr>
          <a:xfrm>
            <a:off x="11095178" y="6414761"/>
            <a:ext cx="258623" cy="24830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7" name="Shape 17"/>
        <p:cNvGrpSpPr/>
        <p:nvPr/>
      </p:nvGrpSpPr>
      <p:grpSpPr>
        <a:xfrm>
          <a:off x="0" y="0"/>
          <a:ext cx="0" cy="0"/>
          <a:chOff x="0" y="0"/>
          <a:chExt cx="0" cy="0"/>
        </a:xfrm>
      </p:grpSpPr>
      <p:sp>
        <p:nvSpPr>
          <p:cNvPr id="18" name="Google Shape;18;p4"/>
          <p:cNvSpPr txBox="1"/>
          <p:nvPr>
            <p:ph type="title"/>
          </p:nvPr>
        </p:nvSpPr>
        <p:spPr>
          <a:xfrm>
            <a:off x="831850" y="1709738"/>
            <a:ext cx="10515600" cy="2852737"/>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9" name="Google Shape;19;p4"/>
          <p:cNvSpPr txBox="1"/>
          <p:nvPr>
            <p:ph idx="1" type="body"/>
          </p:nvPr>
        </p:nvSpPr>
        <p:spPr>
          <a:xfrm>
            <a:off x="831850" y="4589462"/>
            <a:ext cx="10515600" cy="1500189"/>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888888"/>
              </a:buClr>
              <a:buSzPts val="2400"/>
              <a:buFont typeface="Calibri"/>
              <a:buNone/>
              <a:defRPr sz="2400">
                <a:solidFill>
                  <a:srgbClr val="888888"/>
                </a:solidFill>
              </a:defRPr>
            </a:lvl1pPr>
            <a:lvl2pPr indent="-228600" lvl="1" marL="914400" algn="l">
              <a:lnSpc>
                <a:spcPct val="90000"/>
              </a:lnSpc>
              <a:spcBef>
                <a:spcPts val="1000"/>
              </a:spcBef>
              <a:spcAft>
                <a:spcPts val="0"/>
              </a:spcAft>
              <a:buClr>
                <a:srgbClr val="888888"/>
              </a:buClr>
              <a:buSzPts val="2400"/>
              <a:buFont typeface="Calibri"/>
              <a:buNone/>
              <a:defRPr sz="2400">
                <a:solidFill>
                  <a:srgbClr val="888888"/>
                </a:solidFill>
              </a:defRPr>
            </a:lvl2pPr>
            <a:lvl3pPr indent="-228600" lvl="2" marL="1371600" algn="l">
              <a:lnSpc>
                <a:spcPct val="90000"/>
              </a:lnSpc>
              <a:spcBef>
                <a:spcPts val="1000"/>
              </a:spcBef>
              <a:spcAft>
                <a:spcPts val="0"/>
              </a:spcAft>
              <a:buClr>
                <a:srgbClr val="888888"/>
              </a:buClr>
              <a:buSzPts val="2400"/>
              <a:buFont typeface="Calibri"/>
              <a:buNone/>
              <a:defRPr sz="2400">
                <a:solidFill>
                  <a:srgbClr val="888888"/>
                </a:solidFill>
              </a:defRPr>
            </a:lvl3pPr>
            <a:lvl4pPr indent="-228600" lvl="3" marL="1828800" algn="l">
              <a:lnSpc>
                <a:spcPct val="90000"/>
              </a:lnSpc>
              <a:spcBef>
                <a:spcPts val="1000"/>
              </a:spcBef>
              <a:spcAft>
                <a:spcPts val="0"/>
              </a:spcAft>
              <a:buClr>
                <a:srgbClr val="888888"/>
              </a:buClr>
              <a:buSzPts val="2400"/>
              <a:buFont typeface="Calibri"/>
              <a:buNone/>
              <a:defRPr sz="2400">
                <a:solidFill>
                  <a:srgbClr val="888888"/>
                </a:solidFill>
              </a:defRPr>
            </a:lvl4pPr>
            <a:lvl5pPr indent="-228600" lvl="4" marL="2286000" algn="l">
              <a:lnSpc>
                <a:spcPct val="90000"/>
              </a:lnSpc>
              <a:spcBef>
                <a:spcPts val="1000"/>
              </a:spcBef>
              <a:spcAft>
                <a:spcPts val="0"/>
              </a:spcAft>
              <a:buClr>
                <a:srgbClr val="888888"/>
              </a:buClr>
              <a:buSzPts val="2400"/>
              <a:buFont typeface="Calibri"/>
              <a:buNone/>
              <a:defRPr sz="2400">
                <a:solidFill>
                  <a:srgbClr val="888888"/>
                </a:solidFill>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0" name="Google Shape;20;p4"/>
          <p:cNvSpPr txBox="1"/>
          <p:nvPr>
            <p:ph idx="12" type="sldNum"/>
          </p:nvPr>
        </p:nvSpPr>
        <p:spPr>
          <a:xfrm>
            <a:off x="11095178" y="6414761"/>
            <a:ext cx="258623" cy="24830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1" name="Shape 21"/>
        <p:cNvGrpSpPr/>
        <p:nvPr/>
      </p:nvGrpSpPr>
      <p:grpSpPr>
        <a:xfrm>
          <a:off x="0" y="0"/>
          <a:ext cx="0" cy="0"/>
          <a:chOff x="0" y="0"/>
          <a:chExt cx="0" cy="0"/>
        </a:xfrm>
      </p:grpSpPr>
      <p:sp>
        <p:nvSpPr>
          <p:cNvPr id="22" name="Google Shape;22;p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3" name="Google Shape;23;p5"/>
          <p:cNvSpPr txBox="1"/>
          <p:nvPr>
            <p:ph idx="1" type="body"/>
          </p:nvPr>
        </p:nvSpPr>
        <p:spPr>
          <a:xfrm>
            <a:off x="838200" y="1825625"/>
            <a:ext cx="5181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4" name="Google Shape;24;p5"/>
          <p:cNvSpPr txBox="1"/>
          <p:nvPr>
            <p:ph idx="12" type="sldNum"/>
          </p:nvPr>
        </p:nvSpPr>
        <p:spPr>
          <a:xfrm>
            <a:off x="11095178" y="6414761"/>
            <a:ext cx="258623" cy="24830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5" name="Shape 25"/>
        <p:cNvGrpSpPr/>
        <p:nvPr/>
      </p:nvGrpSpPr>
      <p:grpSpPr>
        <a:xfrm>
          <a:off x="0" y="0"/>
          <a:ext cx="0" cy="0"/>
          <a:chOff x="0" y="0"/>
          <a:chExt cx="0" cy="0"/>
        </a:xfrm>
      </p:grpSpPr>
      <p:sp>
        <p:nvSpPr>
          <p:cNvPr id="26" name="Google Shape;26;p6"/>
          <p:cNvSpPr txBox="1"/>
          <p:nvPr>
            <p:ph type="title"/>
          </p:nvPr>
        </p:nvSpPr>
        <p:spPr>
          <a:xfrm>
            <a:off x="839787" y="365125"/>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7" name="Google Shape;27;p6"/>
          <p:cNvSpPr txBox="1"/>
          <p:nvPr>
            <p:ph idx="1" type="body"/>
          </p:nvPr>
        </p:nvSpPr>
        <p:spPr>
          <a:xfrm>
            <a:off x="839787" y="1681163"/>
            <a:ext cx="5157790" cy="823914"/>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2400"/>
              <a:buFont typeface="Calibri"/>
              <a:buNone/>
              <a:defRPr b="1" sz="2400"/>
            </a:lvl1pPr>
            <a:lvl2pPr indent="-228600" lvl="1" marL="914400" algn="l">
              <a:lnSpc>
                <a:spcPct val="90000"/>
              </a:lnSpc>
              <a:spcBef>
                <a:spcPts val="1000"/>
              </a:spcBef>
              <a:spcAft>
                <a:spcPts val="0"/>
              </a:spcAft>
              <a:buClr>
                <a:srgbClr val="000000"/>
              </a:buClr>
              <a:buSzPts val="2400"/>
              <a:buFont typeface="Calibri"/>
              <a:buNone/>
              <a:defRPr b="1" sz="2400"/>
            </a:lvl2pPr>
            <a:lvl3pPr indent="-228600" lvl="2" marL="1371600" algn="l">
              <a:lnSpc>
                <a:spcPct val="90000"/>
              </a:lnSpc>
              <a:spcBef>
                <a:spcPts val="1000"/>
              </a:spcBef>
              <a:spcAft>
                <a:spcPts val="0"/>
              </a:spcAft>
              <a:buClr>
                <a:srgbClr val="000000"/>
              </a:buClr>
              <a:buSzPts val="2400"/>
              <a:buFont typeface="Calibri"/>
              <a:buNone/>
              <a:defRPr b="1" sz="2400"/>
            </a:lvl3pPr>
            <a:lvl4pPr indent="-228600" lvl="3" marL="1828800" algn="l">
              <a:lnSpc>
                <a:spcPct val="90000"/>
              </a:lnSpc>
              <a:spcBef>
                <a:spcPts val="1000"/>
              </a:spcBef>
              <a:spcAft>
                <a:spcPts val="0"/>
              </a:spcAft>
              <a:buClr>
                <a:srgbClr val="000000"/>
              </a:buClr>
              <a:buSzPts val="2400"/>
              <a:buFont typeface="Calibri"/>
              <a:buNone/>
              <a:defRPr b="1" sz="2400"/>
            </a:lvl4pPr>
            <a:lvl5pPr indent="-228600" lvl="4" marL="2286000" algn="l">
              <a:lnSpc>
                <a:spcPct val="90000"/>
              </a:lnSpc>
              <a:spcBef>
                <a:spcPts val="1000"/>
              </a:spcBef>
              <a:spcAft>
                <a:spcPts val="0"/>
              </a:spcAft>
              <a:buClr>
                <a:srgbClr val="000000"/>
              </a:buClr>
              <a:buSzPts val="2400"/>
              <a:buFont typeface="Calibri"/>
              <a:buNone/>
              <a:defRPr b="1"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8" name="Google Shape;28;p6"/>
          <p:cNvSpPr txBox="1"/>
          <p:nvPr>
            <p:ph idx="2" type="body"/>
          </p:nvPr>
        </p:nvSpPr>
        <p:spPr>
          <a:xfrm>
            <a:off x="6172200" y="1681163"/>
            <a:ext cx="5183188" cy="823914"/>
          </a:xfrm>
          <a:prstGeom prst="rect">
            <a:avLst/>
          </a:prstGeom>
          <a:noFill/>
          <a:ln>
            <a:noFill/>
          </a:ln>
        </p:spPr>
        <p:txBody>
          <a:bodyPr anchorCtr="0" anchor="b"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9" name="Google Shape;29;p6"/>
          <p:cNvSpPr txBox="1"/>
          <p:nvPr>
            <p:ph idx="12" type="sldNum"/>
          </p:nvPr>
        </p:nvSpPr>
        <p:spPr>
          <a:xfrm>
            <a:off x="11095178" y="6414761"/>
            <a:ext cx="258623" cy="24830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 name="Shape 30"/>
        <p:cNvGrpSpPr/>
        <p:nvPr/>
      </p:nvGrpSpPr>
      <p:grpSpPr>
        <a:xfrm>
          <a:off x="0" y="0"/>
          <a:ext cx="0" cy="0"/>
          <a:chOff x="0" y="0"/>
          <a:chExt cx="0" cy="0"/>
        </a:xfrm>
      </p:grpSpPr>
      <p:sp>
        <p:nvSpPr>
          <p:cNvPr id="31" name="Google Shape;31;p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2" name="Google Shape;32;p7"/>
          <p:cNvSpPr txBox="1"/>
          <p:nvPr>
            <p:ph idx="12" type="sldNum"/>
          </p:nvPr>
        </p:nvSpPr>
        <p:spPr>
          <a:xfrm>
            <a:off x="11095178" y="6414761"/>
            <a:ext cx="258623" cy="24830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3" name="Shape 33"/>
        <p:cNvGrpSpPr/>
        <p:nvPr/>
      </p:nvGrpSpPr>
      <p:grpSpPr>
        <a:xfrm>
          <a:off x="0" y="0"/>
          <a:ext cx="0" cy="0"/>
          <a:chOff x="0" y="0"/>
          <a:chExt cx="0" cy="0"/>
        </a:xfrm>
      </p:grpSpPr>
      <p:sp>
        <p:nvSpPr>
          <p:cNvPr id="34" name="Google Shape;34;p8"/>
          <p:cNvSpPr txBox="1"/>
          <p:nvPr>
            <p:ph idx="12" type="sldNum"/>
          </p:nvPr>
        </p:nvSpPr>
        <p:spPr>
          <a:xfrm>
            <a:off x="11095178" y="6414761"/>
            <a:ext cx="258623" cy="24830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5" name="Shape 35"/>
        <p:cNvGrpSpPr/>
        <p:nvPr/>
      </p:nvGrpSpPr>
      <p:grpSpPr>
        <a:xfrm>
          <a:off x="0" y="0"/>
          <a:ext cx="0" cy="0"/>
          <a:chOff x="0" y="0"/>
          <a:chExt cx="0" cy="0"/>
        </a:xfrm>
      </p:grpSpPr>
      <p:sp>
        <p:nvSpPr>
          <p:cNvPr id="36" name="Google Shape;36;p9"/>
          <p:cNvSpPr txBox="1"/>
          <p:nvPr>
            <p:ph type="title"/>
          </p:nvPr>
        </p:nvSpPr>
        <p:spPr>
          <a:xfrm>
            <a:off x="839787" y="457200"/>
            <a:ext cx="3932240"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7" name="Google Shape;37;p9"/>
          <p:cNvSpPr txBox="1"/>
          <p:nvPr>
            <p:ph idx="1" type="body"/>
          </p:nvPr>
        </p:nvSpPr>
        <p:spPr>
          <a:xfrm>
            <a:off x="5183187" y="987425"/>
            <a:ext cx="6172202" cy="4873625"/>
          </a:xfrm>
          <a:prstGeom prst="rect">
            <a:avLst/>
          </a:prstGeom>
          <a:noFill/>
          <a:ln>
            <a:noFill/>
          </a:ln>
        </p:spPr>
        <p:txBody>
          <a:bodyPr anchorCtr="0" anchor="t" bIns="45700" lIns="45700" spcFirstLastPara="1" rIns="45700" wrap="square" tIns="45700">
            <a:normAutofit/>
          </a:bodyPr>
          <a:lstStyle>
            <a:lvl1pPr indent="-431800" lvl="0" marL="457200" algn="l">
              <a:lnSpc>
                <a:spcPct val="90000"/>
              </a:lnSpc>
              <a:spcBef>
                <a:spcPts val="1000"/>
              </a:spcBef>
              <a:spcAft>
                <a:spcPts val="0"/>
              </a:spcAft>
              <a:buClr>
                <a:srgbClr val="000000"/>
              </a:buClr>
              <a:buSzPts val="3200"/>
              <a:buChar char="•"/>
              <a:defRPr sz="3200"/>
            </a:lvl1pPr>
            <a:lvl2pPr indent="-431800" lvl="1" marL="914400" algn="l">
              <a:lnSpc>
                <a:spcPct val="90000"/>
              </a:lnSpc>
              <a:spcBef>
                <a:spcPts val="1000"/>
              </a:spcBef>
              <a:spcAft>
                <a:spcPts val="0"/>
              </a:spcAft>
              <a:buClr>
                <a:srgbClr val="000000"/>
              </a:buClr>
              <a:buSzPts val="3200"/>
              <a:buChar char="•"/>
              <a:defRPr sz="3200"/>
            </a:lvl2pPr>
            <a:lvl3pPr indent="-431800" lvl="2" marL="1371600" algn="l">
              <a:lnSpc>
                <a:spcPct val="90000"/>
              </a:lnSpc>
              <a:spcBef>
                <a:spcPts val="1000"/>
              </a:spcBef>
              <a:spcAft>
                <a:spcPts val="0"/>
              </a:spcAft>
              <a:buClr>
                <a:srgbClr val="000000"/>
              </a:buClr>
              <a:buSzPts val="3200"/>
              <a:buChar char="•"/>
              <a:defRPr sz="3200"/>
            </a:lvl3pPr>
            <a:lvl4pPr indent="-431800" lvl="3" marL="1828800" algn="l">
              <a:lnSpc>
                <a:spcPct val="90000"/>
              </a:lnSpc>
              <a:spcBef>
                <a:spcPts val="1000"/>
              </a:spcBef>
              <a:spcAft>
                <a:spcPts val="0"/>
              </a:spcAft>
              <a:buClr>
                <a:srgbClr val="000000"/>
              </a:buClr>
              <a:buSzPts val="3200"/>
              <a:buChar char="•"/>
              <a:defRPr sz="3200"/>
            </a:lvl4pPr>
            <a:lvl5pPr indent="-431800" lvl="4" marL="2286000" algn="l">
              <a:lnSpc>
                <a:spcPct val="90000"/>
              </a:lnSpc>
              <a:spcBef>
                <a:spcPts val="1000"/>
              </a:spcBef>
              <a:spcAft>
                <a:spcPts val="0"/>
              </a:spcAft>
              <a:buClr>
                <a:srgbClr val="000000"/>
              </a:buClr>
              <a:buSzPts val="3200"/>
              <a:buChar char="•"/>
              <a:defRPr sz="32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8" name="Google Shape;38;p9"/>
          <p:cNvSpPr txBox="1"/>
          <p:nvPr>
            <p:ph idx="2" type="body"/>
          </p:nvPr>
        </p:nvSpPr>
        <p:spPr>
          <a:xfrm>
            <a:off x="839787" y="2057400"/>
            <a:ext cx="3932238" cy="381158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9" name="Google Shape;39;p9"/>
          <p:cNvSpPr txBox="1"/>
          <p:nvPr>
            <p:ph idx="12" type="sldNum"/>
          </p:nvPr>
        </p:nvSpPr>
        <p:spPr>
          <a:xfrm>
            <a:off x="11095178" y="6414761"/>
            <a:ext cx="258623" cy="24830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0" name="Shape 40"/>
        <p:cNvGrpSpPr/>
        <p:nvPr/>
      </p:nvGrpSpPr>
      <p:grpSpPr>
        <a:xfrm>
          <a:off x="0" y="0"/>
          <a:ext cx="0" cy="0"/>
          <a:chOff x="0" y="0"/>
          <a:chExt cx="0" cy="0"/>
        </a:xfrm>
      </p:grpSpPr>
      <p:sp>
        <p:nvSpPr>
          <p:cNvPr id="41" name="Google Shape;41;p10"/>
          <p:cNvSpPr txBox="1"/>
          <p:nvPr>
            <p:ph type="title"/>
          </p:nvPr>
        </p:nvSpPr>
        <p:spPr>
          <a:xfrm>
            <a:off x="839787" y="457200"/>
            <a:ext cx="3932240"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2" name="Google Shape;42;p10"/>
          <p:cNvSpPr/>
          <p:nvPr>
            <p:ph idx="2" type="pic"/>
          </p:nvPr>
        </p:nvSpPr>
        <p:spPr>
          <a:xfrm>
            <a:off x="5183187" y="987425"/>
            <a:ext cx="6172202" cy="4873625"/>
          </a:xfrm>
          <a:prstGeom prst="rect">
            <a:avLst/>
          </a:prstGeom>
          <a:noFill/>
          <a:ln>
            <a:noFill/>
          </a:ln>
        </p:spPr>
      </p:sp>
      <p:sp>
        <p:nvSpPr>
          <p:cNvPr id="43" name="Google Shape;43;p10"/>
          <p:cNvSpPr txBox="1"/>
          <p:nvPr>
            <p:ph idx="1" type="body"/>
          </p:nvPr>
        </p:nvSpPr>
        <p:spPr>
          <a:xfrm>
            <a:off x="839787" y="2057400"/>
            <a:ext cx="3932240" cy="3811588"/>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1600"/>
              <a:buFont typeface="Calibri"/>
              <a:buNone/>
              <a:defRPr sz="1600"/>
            </a:lvl1pPr>
            <a:lvl2pPr indent="-228600" lvl="1" marL="914400" algn="l">
              <a:lnSpc>
                <a:spcPct val="90000"/>
              </a:lnSpc>
              <a:spcBef>
                <a:spcPts val="1000"/>
              </a:spcBef>
              <a:spcAft>
                <a:spcPts val="0"/>
              </a:spcAft>
              <a:buClr>
                <a:srgbClr val="000000"/>
              </a:buClr>
              <a:buSzPts val="1600"/>
              <a:buFont typeface="Calibri"/>
              <a:buNone/>
              <a:defRPr sz="1600"/>
            </a:lvl2pPr>
            <a:lvl3pPr indent="-228600" lvl="2" marL="1371600" algn="l">
              <a:lnSpc>
                <a:spcPct val="90000"/>
              </a:lnSpc>
              <a:spcBef>
                <a:spcPts val="1000"/>
              </a:spcBef>
              <a:spcAft>
                <a:spcPts val="0"/>
              </a:spcAft>
              <a:buClr>
                <a:srgbClr val="000000"/>
              </a:buClr>
              <a:buSzPts val="1600"/>
              <a:buFont typeface="Calibri"/>
              <a:buNone/>
              <a:defRPr sz="1600"/>
            </a:lvl3pPr>
            <a:lvl4pPr indent="-228600" lvl="3" marL="1828800" algn="l">
              <a:lnSpc>
                <a:spcPct val="90000"/>
              </a:lnSpc>
              <a:spcBef>
                <a:spcPts val="1000"/>
              </a:spcBef>
              <a:spcAft>
                <a:spcPts val="0"/>
              </a:spcAft>
              <a:buClr>
                <a:srgbClr val="000000"/>
              </a:buClr>
              <a:buSzPts val="1600"/>
              <a:buFont typeface="Calibri"/>
              <a:buNone/>
              <a:defRPr sz="1600"/>
            </a:lvl4pPr>
            <a:lvl5pPr indent="-228600" lvl="4" marL="2286000" algn="l">
              <a:lnSpc>
                <a:spcPct val="90000"/>
              </a:lnSpc>
              <a:spcBef>
                <a:spcPts val="1000"/>
              </a:spcBef>
              <a:spcAft>
                <a:spcPts val="0"/>
              </a:spcAft>
              <a:buClr>
                <a:srgbClr val="000000"/>
              </a:buClr>
              <a:buSzPts val="1600"/>
              <a:buFont typeface="Calibri"/>
              <a:buNone/>
              <a:defRPr sz="16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4" name="Google Shape;44;p10"/>
          <p:cNvSpPr txBox="1"/>
          <p:nvPr>
            <p:ph idx="12" type="sldNum"/>
          </p:nvPr>
        </p:nvSpPr>
        <p:spPr>
          <a:xfrm>
            <a:off x="11095178" y="6414761"/>
            <a:ext cx="258623" cy="24830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406400" lvl="0" marL="457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1pPr>
            <a:lvl2pPr indent="-406400" lvl="1" marL="914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2pPr>
            <a:lvl3pPr indent="-406400" lvl="2" marL="1371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3pPr>
            <a:lvl4pPr indent="-406400" lvl="3" marL="1828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4pPr>
            <a:lvl5pPr indent="-406400" lvl="4" marL="22860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5pPr>
            <a:lvl6pPr indent="-406400" lvl="5" marL="2743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6pPr>
            <a:lvl7pPr indent="-406400" lvl="6" marL="3200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7pPr>
            <a:lvl8pPr indent="-406400" lvl="7" marL="3657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8pPr>
            <a:lvl9pPr indent="-406400" lvl="8" marL="4114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9pPr>
          </a:lstStyle>
          <a:p/>
        </p:txBody>
      </p:sp>
      <p:sp>
        <p:nvSpPr>
          <p:cNvPr id="8" name="Google Shape;8;p1"/>
          <p:cNvSpPr txBox="1"/>
          <p:nvPr>
            <p:ph idx="12" type="sldNum"/>
          </p:nvPr>
        </p:nvSpPr>
        <p:spPr>
          <a:xfrm>
            <a:off x="11095178" y="6414761"/>
            <a:ext cx="258623" cy="248303"/>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youtu.be/bP9VJ03s8Gw?si=ohs8Ao_LUEEwf-2X" TargetMode="External"/><Relationship Id="rId4" Type="http://schemas.openxmlformats.org/officeDocument/2006/relationships/hyperlink" Target="https://support.microsoft.com/en-au/office/save-a-presentation-as-a-video%E2%80%8B-in-powerpoint-ba919059-523d-40a8-b99c-08d18996c09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1"/>
          <p:cNvSpPr txBox="1"/>
          <p:nvPr>
            <p:ph idx="4294967295" type="ctrTitle"/>
          </p:nvPr>
        </p:nvSpPr>
        <p:spPr>
          <a:xfrm>
            <a:off x="1524000" y="1122362"/>
            <a:ext cx="9144000" cy="2387601"/>
          </a:xfrm>
          <a:prstGeom prst="rect">
            <a:avLst/>
          </a:prstGeom>
          <a:noFill/>
          <a:ln>
            <a:noFill/>
          </a:ln>
        </p:spPr>
        <p:txBody>
          <a:bodyPr anchorCtr="0" anchor="b" bIns="45700" lIns="45700" spcFirstLastPara="1" rIns="45700" wrap="square" tIns="45700">
            <a:normAutofit/>
          </a:bodyPr>
          <a:lstStyle/>
          <a:p>
            <a:pPr indent="0" lvl="0" marL="0" marR="0" rtl="0" algn="ctr">
              <a:lnSpc>
                <a:spcPct val="90000"/>
              </a:lnSpc>
              <a:spcBef>
                <a:spcPts val="0"/>
              </a:spcBef>
              <a:spcAft>
                <a:spcPts val="0"/>
              </a:spcAft>
              <a:buClr>
                <a:srgbClr val="000000"/>
              </a:buClr>
              <a:buSzPts val="6000"/>
              <a:buFont typeface="Calibri"/>
              <a:buNone/>
            </a:pPr>
            <a:r>
              <a:rPr b="0" i="0" lang="en-US" sz="6000" u="none" cap="none" strike="noStrike">
                <a:solidFill>
                  <a:srgbClr val="000000"/>
                </a:solidFill>
                <a:latin typeface="Calibri"/>
                <a:ea typeface="Calibri"/>
                <a:cs typeface="Calibri"/>
                <a:sym typeface="Calibri"/>
              </a:rPr>
              <a:t>SURYANSH SHARMA</a:t>
            </a:r>
            <a:endParaRPr/>
          </a:p>
        </p:txBody>
      </p:sp>
      <p:sp>
        <p:nvSpPr>
          <p:cNvPr id="50" name="Google Shape;50;p11"/>
          <p:cNvSpPr txBox="1"/>
          <p:nvPr>
            <p:ph idx="4294967295" type="subTitle"/>
          </p:nvPr>
        </p:nvSpPr>
        <p:spPr>
          <a:xfrm>
            <a:off x="1524000" y="3602037"/>
            <a:ext cx="9144000" cy="616673"/>
          </a:xfrm>
          <a:prstGeom prst="rect">
            <a:avLst/>
          </a:prstGeom>
          <a:noFill/>
          <a:ln>
            <a:noFill/>
          </a:ln>
        </p:spPr>
        <p:txBody>
          <a:bodyPr anchorCtr="0" anchor="t" bIns="45700" lIns="45700" spcFirstLastPara="1" rIns="45700" wrap="square" tIns="45700">
            <a:norm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STUDENT ID: 34557326</a:t>
            </a:r>
            <a:endParaRPr/>
          </a:p>
        </p:txBody>
      </p:sp>
      <p:grpSp>
        <p:nvGrpSpPr>
          <p:cNvPr id="51" name="Google Shape;51;p11"/>
          <p:cNvGrpSpPr/>
          <p:nvPr/>
        </p:nvGrpSpPr>
        <p:grpSpPr>
          <a:xfrm>
            <a:off x="363680" y="5039588"/>
            <a:ext cx="11464639" cy="1713422"/>
            <a:chOff x="-1" y="-1"/>
            <a:chExt cx="11464638" cy="1713421"/>
          </a:xfrm>
        </p:grpSpPr>
        <p:sp>
          <p:nvSpPr>
            <p:cNvPr id="52" name="Google Shape;52;p11"/>
            <p:cNvSpPr/>
            <p:nvPr/>
          </p:nvSpPr>
          <p:spPr>
            <a:xfrm>
              <a:off x="-1" y="-1"/>
              <a:ext cx="11464638" cy="1713421"/>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72000"/>
                </a:lnSpc>
                <a:spcBef>
                  <a:spcPts val="0"/>
                </a:spcBef>
                <a:spcAft>
                  <a:spcPts val="0"/>
                </a:spcAft>
                <a:buClr>
                  <a:srgbClr val="000000"/>
                </a:buClr>
                <a:buSzPts val="2000"/>
                <a:buFont typeface="Calibri"/>
                <a:buNone/>
              </a:pPr>
              <a:r>
                <a:t/>
              </a:r>
              <a:endParaRPr b="1" i="0" sz="2000" u="none" cap="none" strike="noStrike">
                <a:solidFill>
                  <a:srgbClr val="000000"/>
                </a:solidFill>
                <a:latin typeface="Calibri"/>
                <a:ea typeface="Calibri"/>
                <a:cs typeface="Calibri"/>
                <a:sym typeface="Calibri"/>
              </a:endParaRPr>
            </a:p>
          </p:txBody>
        </p:sp>
        <p:sp>
          <p:nvSpPr>
            <p:cNvPr id="53" name="Google Shape;53;p11"/>
            <p:cNvSpPr txBox="1"/>
            <p:nvPr/>
          </p:nvSpPr>
          <p:spPr>
            <a:xfrm>
              <a:off x="53656" y="7937"/>
              <a:ext cx="11357324" cy="1697546"/>
            </a:xfrm>
            <a:prstGeom prst="rect">
              <a:avLst/>
            </a:prstGeom>
            <a:noFill/>
            <a:ln>
              <a:noFill/>
            </a:ln>
          </p:spPr>
          <p:txBody>
            <a:bodyPr anchorCtr="0" anchor="t" bIns="45700" lIns="45700" spcFirstLastPara="1" rIns="45700" wrap="square" tIns="45700">
              <a:normAutofit/>
            </a:bodyPr>
            <a:lstStyle/>
            <a:p>
              <a:pPr indent="0" lvl="0" marL="0" marR="0" rtl="0" algn="l">
                <a:lnSpc>
                  <a:spcPct val="72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How to record a presentation in power point? </a:t>
              </a:r>
              <a:r>
                <a:rPr b="0" i="0" lang="en-US" sz="1400" u="sng" cap="none" strike="noStrike">
                  <a:solidFill>
                    <a:schemeClr val="hlink"/>
                  </a:solidFill>
                  <a:latin typeface="Calibri"/>
                  <a:ea typeface="Calibri"/>
                  <a:cs typeface="Calibri"/>
                  <a:sym typeface="Calibri"/>
                  <a:hlinkClick r:id="rId3"/>
                </a:rPr>
                <a:t>Click here</a:t>
              </a:r>
              <a:r>
                <a:rPr b="0" i="0" lang="en-US" sz="1400" u="none" cap="none" strike="noStrike">
                  <a:solidFill>
                    <a:srgbClr val="000000"/>
                  </a:solidFill>
                  <a:latin typeface="Calibri"/>
                  <a:ea typeface="Calibri"/>
                  <a:cs typeface="Calibri"/>
                  <a:sym typeface="Calibri"/>
                </a:rPr>
                <a:t>.</a:t>
              </a:r>
              <a:endParaRPr b="0" i="0" sz="1700" u="none" cap="none" strike="noStrike">
                <a:solidFill>
                  <a:srgbClr val="000000"/>
                </a:solidFill>
                <a:latin typeface="Calibri"/>
                <a:ea typeface="Calibri"/>
                <a:cs typeface="Calibri"/>
                <a:sym typeface="Calibri"/>
              </a:endParaRPr>
            </a:p>
            <a:p>
              <a:pPr indent="0" lvl="0" marL="0" marR="0" rtl="0" algn="l">
                <a:lnSpc>
                  <a:spcPct val="72000"/>
                </a:lnSpc>
                <a:spcBef>
                  <a:spcPts val="80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How to save your presentation as a video? </a:t>
              </a:r>
              <a:r>
                <a:rPr b="0" i="0" lang="en-US" sz="1400" u="sng" cap="none" strike="noStrike">
                  <a:solidFill>
                    <a:schemeClr val="hlink"/>
                  </a:solidFill>
                  <a:latin typeface="Calibri"/>
                  <a:ea typeface="Calibri"/>
                  <a:cs typeface="Calibri"/>
                  <a:sym typeface="Calibri"/>
                  <a:hlinkClick r:id="rId4"/>
                </a:rPr>
                <a:t>Click here</a:t>
              </a:r>
              <a:r>
                <a:rPr b="0" i="0" lang="en-US" sz="1400" u="none" cap="none" strike="noStrike">
                  <a:solidFill>
                    <a:srgbClr val="000000"/>
                  </a:solidFill>
                  <a:latin typeface="Calibri"/>
                  <a:ea typeface="Calibri"/>
                  <a:cs typeface="Calibri"/>
                  <a:sym typeface="Calibri"/>
                </a:rPr>
                <a:t>.</a:t>
              </a:r>
              <a:endParaRPr b="0" i="0" sz="1700" u="none" cap="none" strike="noStrike">
                <a:solidFill>
                  <a:srgbClr val="000000"/>
                </a:solidFill>
                <a:latin typeface="Calibri"/>
                <a:ea typeface="Calibri"/>
                <a:cs typeface="Calibri"/>
                <a:sym typeface="Calibri"/>
              </a:endParaRPr>
            </a:p>
            <a:p>
              <a:pPr indent="-370331" lvl="0" marL="370331" marR="0" rtl="0" algn="l">
                <a:lnSpc>
                  <a:spcPct val="72000"/>
                </a:lnSpc>
                <a:spcBef>
                  <a:spcPts val="800"/>
                </a:spcBef>
                <a:spcAft>
                  <a:spcPts val="0"/>
                </a:spcAft>
                <a:buClr>
                  <a:srgbClr val="000000"/>
                </a:buClr>
                <a:buSzPts val="1400"/>
                <a:buFont typeface="Calibri"/>
                <a:buAutoNum type="arabicParenBoth"/>
              </a:pPr>
              <a:r>
                <a:rPr b="1" i="0" lang="en-US" sz="1400" u="none" cap="none" strike="noStrike">
                  <a:solidFill>
                    <a:srgbClr val="000000"/>
                  </a:solidFill>
                  <a:latin typeface="Calibri"/>
                  <a:ea typeface="Calibri"/>
                  <a:cs typeface="Calibri"/>
                  <a:sym typeface="Calibri"/>
                </a:rPr>
                <a:t>Do NOT add or remove any slide from the provided template.</a:t>
              </a:r>
              <a:endParaRPr b="0" i="0" sz="1700" u="none" cap="none" strike="noStrike">
                <a:solidFill>
                  <a:srgbClr val="000000"/>
                </a:solidFill>
                <a:latin typeface="Calibri"/>
                <a:ea typeface="Calibri"/>
                <a:cs typeface="Calibri"/>
                <a:sym typeface="Calibri"/>
              </a:endParaRPr>
            </a:p>
            <a:p>
              <a:pPr indent="-370331" lvl="0" marL="370331" marR="0" rtl="0" algn="l">
                <a:lnSpc>
                  <a:spcPct val="72000"/>
                </a:lnSpc>
                <a:spcBef>
                  <a:spcPts val="800"/>
                </a:spcBef>
                <a:spcAft>
                  <a:spcPts val="0"/>
                </a:spcAft>
                <a:buClr>
                  <a:srgbClr val="000000"/>
                </a:buClr>
                <a:buSzPts val="1400"/>
                <a:buFont typeface="Calibri"/>
                <a:buAutoNum type="arabicParenBoth"/>
              </a:pPr>
              <a:r>
                <a:rPr b="1" i="0" lang="en-US" sz="1400" u="none" cap="none" strike="noStrike">
                  <a:solidFill>
                    <a:srgbClr val="000000"/>
                  </a:solidFill>
                  <a:latin typeface="Calibri"/>
                  <a:ea typeface="Calibri"/>
                  <a:cs typeface="Calibri"/>
                  <a:sym typeface="Calibri"/>
                </a:rPr>
                <a:t>The presentation length should NOT be longer than 5 minutes and NOT be shorter than 4.5 minutes.</a:t>
              </a:r>
              <a:endParaRPr b="0" i="0" sz="1700" u="none" cap="none" strike="noStrike">
                <a:solidFill>
                  <a:srgbClr val="000000"/>
                </a:solidFill>
                <a:latin typeface="Calibri"/>
                <a:ea typeface="Calibri"/>
                <a:cs typeface="Calibri"/>
                <a:sym typeface="Calibri"/>
              </a:endParaRPr>
            </a:p>
            <a:p>
              <a:pPr indent="-370331" lvl="0" marL="370331" marR="0" rtl="0" algn="l">
                <a:lnSpc>
                  <a:spcPct val="72000"/>
                </a:lnSpc>
                <a:spcBef>
                  <a:spcPts val="800"/>
                </a:spcBef>
                <a:spcAft>
                  <a:spcPts val="0"/>
                </a:spcAft>
                <a:buClr>
                  <a:srgbClr val="000000"/>
                </a:buClr>
                <a:buSzPts val="1400"/>
                <a:buFont typeface="Calibri"/>
                <a:buAutoNum type="arabicParenBoth"/>
              </a:pPr>
              <a:r>
                <a:rPr b="1" i="0" lang="en-US" sz="1400" u="none" cap="none" strike="noStrike">
                  <a:solidFill>
                    <a:srgbClr val="000000"/>
                  </a:solidFill>
                  <a:latin typeface="Calibri"/>
                  <a:ea typeface="Calibri"/>
                  <a:cs typeface="Calibri"/>
                  <a:sym typeface="Calibri"/>
                </a:rPr>
                <a:t>Your total assignment submission files should not exceed 500 MB. So choose the export quality accordingly.</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2"/>
          <p:cNvSpPr txBox="1"/>
          <p:nvPr>
            <p:ph idx="4294967295" type="ctrTitle"/>
          </p:nvPr>
        </p:nvSpPr>
        <p:spPr>
          <a:xfrm>
            <a:off x="1524000" y="1653701"/>
            <a:ext cx="9144000" cy="3202506"/>
          </a:xfrm>
          <a:prstGeom prst="rect">
            <a:avLst/>
          </a:prstGeom>
          <a:noFill/>
          <a:ln>
            <a:noFill/>
          </a:ln>
        </p:spPr>
        <p:txBody>
          <a:bodyPr anchorCtr="0" anchor="b" bIns="45700" lIns="45700" spcFirstLastPara="1" rIns="45700" wrap="square" tIns="45700">
            <a:normAutofit/>
          </a:bodyPr>
          <a:lstStyle/>
          <a:p>
            <a:pPr indent="0" lvl="0" marL="0" marR="0" rtl="0" algn="l">
              <a:lnSpc>
                <a:spcPct val="9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Do you agree with your xlsx submission to be shared with others in this class or the broader NLP community for a scientific purpose? Yes/No</a:t>
            </a:r>
            <a:br>
              <a:rPr b="0" i="0" lang="en-US" sz="3600" u="none" cap="none" strike="noStrike">
                <a:solidFill>
                  <a:srgbClr val="000000"/>
                </a:solidFill>
                <a:latin typeface="Calibri"/>
                <a:ea typeface="Calibri"/>
                <a:cs typeface="Calibri"/>
                <a:sym typeface="Calibri"/>
              </a:rPr>
            </a:br>
            <a:r>
              <a:rPr lang="en-US" sz="3600"/>
              <a:t>YES</a:t>
            </a:r>
            <a:br>
              <a:rPr b="0" i="0" lang="en-US" sz="3600" u="none" cap="none" strike="noStrike">
                <a:solidFill>
                  <a:srgbClr val="000000"/>
                </a:solidFill>
                <a:latin typeface="Calibri"/>
                <a:ea typeface="Calibri"/>
                <a:cs typeface="Calibri"/>
                <a:sym typeface="Calibri"/>
              </a:rPr>
            </a:br>
            <a:r>
              <a:rPr b="0" i="0" lang="en-US" sz="3600" u="none" cap="none" strike="noStrike">
                <a:solidFill>
                  <a:srgbClr val="000000"/>
                </a:solidFill>
                <a:latin typeface="Calibri"/>
                <a:ea typeface="Calibri"/>
                <a:cs typeface="Calibri"/>
                <a:sym typeface="Calibri"/>
              </a:rPr>
              <a:t>There is no mark deduction if you choose No.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title"/>
          </p:nvPr>
        </p:nvSpPr>
        <p:spPr>
          <a:xfrm>
            <a:off x="294497" y="312841"/>
            <a:ext cx="10515601" cy="69718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Calibri"/>
              <a:buNone/>
            </a:pPr>
            <a:r>
              <a:rPr b="0" i="0" lang="en-US" sz="4400" u="none" cap="none" strike="noStrike">
                <a:solidFill>
                  <a:srgbClr val="000000"/>
                </a:solidFill>
                <a:latin typeface="Calibri"/>
                <a:ea typeface="Calibri"/>
                <a:cs typeface="Calibri"/>
                <a:sym typeface="Calibri"/>
              </a:rPr>
              <a:t>Analysis of ChatGPT failure for Q1</a:t>
            </a:r>
            <a:endParaRPr/>
          </a:p>
        </p:txBody>
      </p:sp>
      <p:sp>
        <p:nvSpPr>
          <p:cNvPr id="64" name="Google Shape;64;p13"/>
          <p:cNvSpPr txBox="1"/>
          <p:nvPr>
            <p:ph idx="1" type="body"/>
          </p:nvPr>
        </p:nvSpPr>
        <p:spPr>
          <a:xfrm>
            <a:off x="294497" y="2679662"/>
            <a:ext cx="11603003" cy="4083705"/>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rtl="0" algn="l">
              <a:lnSpc>
                <a:spcPct val="90000"/>
              </a:lnSpc>
              <a:spcBef>
                <a:spcPts val="0"/>
              </a:spcBef>
              <a:spcAft>
                <a:spcPts val="0"/>
              </a:spcAft>
              <a:buClr>
                <a:srgbClr val="000000"/>
              </a:buClr>
              <a:buSzPts val="1200"/>
              <a:buNone/>
            </a:pPr>
            <a:r>
              <a:rPr lang="en-US" sz="1200"/>
              <a:t>ChatGPT’s Answer : </a:t>
            </a:r>
            <a:r>
              <a:rPr lang="en-US" sz="1200">
                <a:solidFill>
                  <a:schemeClr val="dk1"/>
                </a:solidFill>
              </a:rPr>
              <a:t>Let's break it down:</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Initially, the family has 5 members:Grandfather, Grandmother, Son (father of the grandson), Wife of the son, Grandson</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The grandson got married, but this doesn't change the count of family members unless we know that the spouse is included in the family.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After the marriage, two of the oldest people (the grandfather and grandmother) died in an accident.</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Now, the remaining family members are: The son, His wife, The grandson (who is still alive), Thus, 3 members are alive.</a:t>
            </a:r>
            <a:endParaRPr sz="1200">
              <a:solidFill>
                <a:schemeClr val="dk1"/>
              </a:solidFill>
            </a:endParaRPr>
          </a:p>
          <a:p>
            <a:pPr indent="0" lvl="0" marL="0" rtl="0" algn="l">
              <a:lnSpc>
                <a:spcPct val="115000"/>
              </a:lnSpc>
              <a:spcBef>
                <a:spcPts val="0"/>
              </a:spcBef>
              <a:spcAft>
                <a:spcPts val="0"/>
              </a:spcAft>
              <a:buClr>
                <a:schemeClr val="dk1"/>
              </a:buClr>
              <a:buSzPts val="1100"/>
              <a:buNone/>
            </a:pPr>
            <a:r>
              <a:rPr lang="en-US" sz="1200">
                <a:solidFill>
                  <a:schemeClr val="dk1"/>
                </a:solidFill>
              </a:rPr>
              <a:t>The answer is A. 3.</a:t>
            </a:r>
            <a:endParaRPr sz="1200">
              <a:solidFill>
                <a:schemeClr val="dk1"/>
              </a:solidFill>
            </a:endParaRPr>
          </a:p>
          <a:p>
            <a:pPr indent="0" lvl="0" marL="0" rtl="0" algn="l">
              <a:lnSpc>
                <a:spcPct val="115000"/>
              </a:lnSpc>
              <a:spcBef>
                <a:spcPts val="0"/>
              </a:spcBef>
              <a:spcAft>
                <a:spcPts val="0"/>
              </a:spcAft>
              <a:buClr>
                <a:schemeClr val="dk1"/>
              </a:buClr>
              <a:buSzPts val="1100"/>
              <a:buNone/>
            </a:pPr>
            <a:r>
              <a:rPr lang="en-US" sz="1200"/>
              <a:t>Analysis (Describe the failure. What is causing ChatGPT to fail? How this is related to existing reported issues in the literature? There should be a clear and explicit connection to the references you cite on this slide. What potential implications this weakness could have?):</a:t>
            </a:r>
            <a:endParaRPr sz="1200"/>
          </a:p>
          <a:p>
            <a:pPr indent="-304800" lvl="0" marL="457200" rtl="0" algn="l">
              <a:lnSpc>
                <a:spcPct val="115000"/>
              </a:lnSpc>
              <a:spcBef>
                <a:spcPts val="0"/>
              </a:spcBef>
              <a:spcAft>
                <a:spcPts val="0"/>
              </a:spcAft>
              <a:buSzPts val="1200"/>
              <a:buFont typeface="Calibri"/>
              <a:buAutoNum type="alphaLcPeriod"/>
            </a:pPr>
            <a:r>
              <a:rPr lang="en-US" sz="1200"/>
              <a:t>ChatGPT incorrectly counted 3 family members instead of 4, missing the grandson's spouse.</a:t>
            </a:r>
            <a:endParaRPr sz="1200"/>
          </a:p>
          <a:p>
            <a:pPr indent="-304800" lvl="0" marL="457200" rtl="0" algn="l">
              <a:lnSpc>
                <a:spcPct val="115000"/>
              </a:lnSpc>
              <a:spcBef>
                <a:spcPts val="0"/>
              </a:spcBef>
              <a:spcAft>
                <a:spcPts val="0"/>
              </a:spcAft>
              <a:buSzPts val="1200"/>
              <a:buFont typeface="Calibri"/>
              <a:buAutoNum type="alphaLcPeriod"/>
            </a:pPr>
            <a:r>
              <a:rPr lang="en-US" sz="1200"/>
              <a:t>Inability to track dynamic entity changes (marriage adding a new family member).</a:t>
            </a:r>
            <a:endParaRPr sz="1200"/>
          </a:p>
          <a:p>
            <a:pPr indent="-304800" lvl="0" marL="457200" rtl="0" algn="l">
              <a:lnSpc>
                <a:spcPct val="115000"/>
              </a:lnSpc>
              <a:spcBef>
                <a:spcPts val="0"/>
              </a:spcBef>
              <a:spcAft>
                <a:spcPts val="0"/>
              </a:spcAft>
              <a:buSzPts val="1200"/>
              <a:buFont typeface="Calibri"/>
              <a:buAutoNum type="alphaLcPeriod"/>
            </a:pPr>
            <a:r>
              <a:rPr lang="en-US" sz="1200"/>
              <a:t>Fails at implicit contextual reasoning that humans find intuitive.</a:t>
            </a:r>
            <a:endParaRPr sz="1200"/>
          </a:p>
          <a:p>
            <a:pPr indent="0" lvl="0" marL="0" rtl="0" algn="l">
              <a:lnSpc>
                <a:spcPct val="115000"/>
              </a:lnSpc>
              <a:spcBef>
                <a:spcPts val="0"/>
              </a:spcBef>
              <a:spcAft>
                <a:spcPts val="0"/>
              </a:spcAft>
              <a:buNone/>
            </a:pPr>
            <a:r>
              <a:rPr lang="en-US" sz="1200">
                <a:solidFill>
                  <a:schemeClr val="dk1"/>
                </a:solidFill>
              </a:rPr>
              <a:t>Implications:</a:t>
            </a:r>
            <a:endParaRPr sz="1200">
              <a:solidFill>
                <a:schemeClr val="dk1"/>
              </a:solidFill>
            </a:endParaRPr>
          </a:p>
          <a:p>
            <a:pPr indent="-304800" lvl="0" marL="457200" rtl="0" algn="l">
              <a:lnSpc>
                <a:spcPct val="115000"/>
              </a:lnSpc>
              <a:spcBef>
                <a:spcPts val="0"/>
              </a:spcBef>
              <a:spcAft>
                <a:spcPts val="0"/>
              </a:spcAft>
              <a:buClr>
                <a:schemeClr val="dk1"/>
              </a:buClr>
              <a:buSzPts val="1200"/>
              <a:buFont typeface="Calibri"/>
              <a:buAutoNum type="alphaLcPeriod"/>
            </a:pPr>
            <a:r>
              <a:rPr lang="en-US" sz="1200">
                <a:solidFill>
                  <a:schemeClr val="dk1"/>
                </a:solidFill>
              </a:rPr>
              <a:t>Unreliable for legal document interpretation where family composition matters.</a:t>
            </a:r>
            <a:endParaRPr sz="1200">
              <a:solidFill>
                <a:schemeClr val="dk1"/>
              </a:solidFill>
            </a:endParaRPr>
          </a:p>
          <a:p>
            <a:pPr indent="-304800" lvl="0" marL="457200" rtl="0" algn="l">
              <a:lnSpc>
                <a:spcPct val="115000"/>
              </a:lnSpc>
              <a:spcBef>
                <a:spcPts val="0"/>
              </a:spcBef>
              <a:spcAft>
                <a:spcPts val="0"/>
              </a:spcAft>
              <a:buClr>
                <a:schemeClr val="dk1"/>
              </a:buClr>
              <a:buSzPts val="1200"/>
              <a:buFont typeface="Calibri"/>
              <a:buAutoNum type="alphaLcPeriod"/>
            </a:pPr>
            <a:r>
              <a:rPr lang="en-US" sz="1200">
                <a:solidFill>
                  <a:schemeClr val="dk1"/>
                </a:solidFill>
              </a:rPr>
              <a:t>May provide misleading information in sensitive family situations.</a:t>
            </a:r>
            <a:endParaRPr sz="1200">
              <a:solidFill>
                <a:schemeClr val="dk1"/>
              </a:solidFill>
            </a:endParaRPr>
          </a:p>
          <a:p>
            <a:pPr indent="-304800" lvl="0" marL="457200" rtl="0" algn="l">
              <a:lnSpc>
                <a:spcPct val="115000"/>
              </a:lnSpc>
              <a:spcBef>
                <a:spcPts val="0"/>
              </a:spcBef>
              <a:spcAft>
                <a:spcPts val="0"/>
              </a:spcAft>
              <a:buClr>
                <a:schemeClr val="dk1"/>
              </a:buClr>
              <a:buSzPts val="1200"/>
              <a:buFont typeface="Calibri"/>
              <a:buAutoNum type="alphaLcPeriod"/>
            </a:pPr>
            <a:r>
              <a:rPr lang="en-US" sz="1200">
                <a:solidFill>
                  <a:schemeClr val="dk1"/>
                </a:solidFill>
              </a:rPr>
              <a:t>Limitation for any application requiring accurate family relationship tracking.</a:t>
            </a:r>
            <a:endParaRPr sz="1200">
              <a:solidFill>
                <a:schemeClr val="dk1"/>
              </a:solidFill>
            </a:endParaRPr>
          </a:p>
          <a:p>
            <a:pPr indent="0" lvl="0" marL="0" rtl="0" algn="l">
              <a:lnSpc>
                <a:spcPct val="115000"/>
              </a:lnSpc>
              <a:spcBef>
                <a:spcPts val="1200"/>
              </a:spcBef>
              <a:spcAft>
                <a:spcPts val="0"/>
              </a:spcAft>
              <a:buNone/>
            </a:pPr>
            <a:r>
              <a:rPr lang="en-US" sz="1200"/>
              <a:t>References [1] </a:t>
            </a:r>
            <a:r>
              <a:rPr b="1" lang="en-US" sz="1200"/>
              <a:t>Liu, Z., Zhang, Z., Luo, F., Yu, H., Duan, N., &amp; Zhou, M. (2020). LogiQA: A Challenge Dataset for Machine Reading Comprehension with Logical Reasoning. </a:t>
            </a:r>
            <a:r>
              <a:rPr b="1" i="1" lang="en-US" sz="1200"/>
              <a:t>arXiv:2007.08124</a:t>
            </a:r>
            <a:r>
              <a:rPr b="1" lang="en-US" sz="1200"/>
              <a:t>. </a:t>
            </a:r>
            <a:endParaRPr b="1" sz="1200"/>
          </a:p>
          <a:p>
            <a:pPr indent="0" lvl="0" marL="0" rtl="0" algn="l">
              <a:lnSpc>
                <a:spcPct val="90000"/>
              </a:lnSpc>
              <a:spcBef>
                <a:spcPts val="1200"/>
              </a:spcBef>
              <a:spcAft>
                <a:spcPts val="0"/>
              </a:spcAft>
              <a:buClr>
                <a:srgbClr val="000000"/>
              </a:buClr>
              <a:buSzPts val="1200"/>
              <a:buNone/>
            </a:pPr>
            <a:r>
              <a:rPr lang="en-US" sz="1200"/>
              <a:t>[2] </a:t>
            </a:r>
            <a:r>
              <a:rPr b="1" lang="en-US" sz="1200"/>
              <a:t>Talmor, A., Herzig, J., Lourie, N., &amp; Berant, J. (2019). "CommonsenseQA: A Question Answering Challenge Targeting Commonsense Knowledge."ACL Anthology (NAACL)</a:t>
            </a:r>
            <a:endParaRPr sz="1200"/>
          </a:p>
        </p:txBody>
      </p:sp>
      <p:grpSp>
        <p:nvGrpSpPr>
          <p:cNvPr id="65" name="Google Shape;65;p13"/>
          <p:cNvGrpSpPr/>
          <p:nvPr/>
        </p:nvGrpSpPr>
        <p:grpSpPr>
          <a:xfrm>
            <a:off x="294495" y="1010019"/>
            <a:ext cx="11603008" cy="1163231"/>
            <a:chOff x="-1" y="-1"/>
            <a:chExt cx="11603008" cy="1163231"/>
          </a:xfrm>
        </p:grpSpPr>
        <p:sp>
          <p:nvSpPr>
            <p:cNvPr id="66" name="Google Shape;66;p13"/>
            <p:cNvSpPr/>
            <p:nvPr/>
          </p:nvSpPr>
          <p:spPr>
            <a:xfrm>
              <a:off x="-1" y="-1"/>
              <a:ext cx="11603008" cy="1155278"/>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90000"/>
                </a:lnSpc>
                <a:spcBef>
                  <a:spcPts val="0"/>
                </a:spcBef>
                <a:spcAft>
                  <a:spcPts val="0"/>
                </a:spcAft>
                <a:buClr>
                  <a:srgbClr val="000000"/>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67" name="Google Shape;67;p13"/>
            <p:cNvSpPr txBox="1"/>
            <p:nvPr/>
          </p:nvSpPr>
          <p:spPr>
            <a:xfrm>
              <a:off x="53654" y="7930"/>
              <a:ext cx="11495700" cy="1155300"/>
            </a:xfrm>
            <a:prstGeom prst="rect">
              <a:avLst/>
            </a:prstGeom>
            <a:noFill/>
            <a:ln>
              <a:noFill/>
            </a:ln>
          </p:spPr>
          <p:txBody>
            <a:bodyPr anchorCtr="0" anchor="t" bIns="45700" lIns="45700" spcFirstLastPara="1" rIns="45700" wrap="square" tIns="45700">
              <a:normAutofit/>
            </a:bodyPr>
            <a:lstStyle/>
            <a:p>
              <a:pPr indent="0" lvl="0" marL="0" marR="0" rtl="0" algn="l">
                <a:lnSpc>
                  <a:spcPct val="90000"/>
                </a:lnSpc>
                <a:spcBef>
                  <a:spcPts val="0"/>
                </a:spcBef>
                <a:spcAft>
                  <a:spcPts val="0"/>
                </a:spcAft>
                <a:buClr>
                  <a:srgbClr val="000000"/>
                </a:buClr>
                <a:buSzPts val="1380"/>
                <a:buFont typeface="Calibri"/>
                <a:buNone/>
              </a:pPr>
              <a:r>
                <a:rPr i="0" lang="en-US" sz="1200" u="none" cap="none" strike="noStrike">
                  <a:solidFill>
                    <a:srgbClr val="000000"/>
                  </a:solidFill>
                  <a:latin typeface="Calibri"/>
                  <a:ea typeface="Calibri"/>
                  <a:cs typeface="Calibri"/>
                  <a:sym typeface="Calibri"/>
                </a:rPr>
                <a:t>Question: There is a family of 5 members: a grandfather, a grandmother, their son, his wife, and their grandson. The grandson got married, and right after the marriage, two of the oldest people in the family died in an accident. How many members are alive in the family now? </a:t>
              </a:r>
              <a:endParaRPr sz="1200">
                <a:latin typeface="Calibri"/>
                <a:ea typeface="Calibri"/>
                <a:cs typeface="Calibri"/>
                <a:sym typeface="Calibri"/>
              </a:endParaRPr>
            </a:p>
            <a:p>
              <a:pPr indent="0" lvl="0" marL="0" marR="0" rtl="0" algn="l">
                <a:lnSpc>
                  <a:spcPct val="90000"/>
                </a:lnSpc>
                <a:spcBef>
                  <a:spcPts val="200"/>
                </a:spcBef>
                <a:spcAft>
                  <a:spcPts val="0"/>
                </a:spcAft>
                <a:buClr>
                  <a:srgbClr val="000000"/>
                </a:buClr>
                <a:buSzPts val="1380"/>
                <a:buFont typeface="Calibri"/>
                <a:buNone/>
              </a:pPr>
              <a:r>
                <a:rPr i="0" lang="en-US" sz="1200" u="none" cap="none" strike="noStrike">
                  <a:solidFill>
                    <a:srgbClr val="000000"/>
                  </a:solidFill>
                  <a:latin typeface="Calibri"/>
                  <a:ea typeface="Calibri"/>
                  <a:cs typeface="Calibri"/>
                  <a:sym typeface="Calibri"/>
                </a:rPr>
                <a:t>A.3   B.4   C.5   D.2</a:t>
              </a:r>
              <a:endParaRPr sz="1200">
                <a:latin typeface="Calibri"/>
                <a:ea typeface="Calibri"/>
                <a:cs typeface="Calibri"/>
                <a:sym typeface="Calibri"/>
              </a:endParaRPr>
            </a:p>
            <a:p>
              <a:pPr indent="0" lvl="0" marL="0" marR="0" rtl="0" algn="l">
                <a:lnSpc>
                  <a:spcPct val="90000"/>
                </a:lnSpc>
                <a:spcBef>
                  <a:spcPts val="200"/>
                </a:spcBef>
                <a:spcAft>
                  <a:spcPts val="0"/>
                </a:spcAft>
                <a:buClr>
                  <a:srgbClr val="000000"/>
                </a:buClr>
                <a:buSzPts val="1380"/>
                <a:buFont typeface="Calibri"/>
                <a:buNone/>
              </a:pPr>
              <a:r>
                <a:rPr i="0" lang="en-US" sz="1200" u="none" cap="none" strike="noStrike">
                  <a:solidFill>
                    <a:srgbClr val="000000"/>
                  </a:solidFill>
                  <a:latin typeface="Calibri"/>
                  <a:ea typeface="Calibri"/>
                  <a:cs typeface="Calibri"/>
                  <a:sym typeface="Calibri"/>
                </a:rPr>
                <a:t>Correct Answer: B.4</a:t>
              </a:r>
              <a:endParaRPr sz="1200">
                <a:latin typeface="Calibri"/>
                <a:ea typeface="Calibri"/>
                <a:cs typeface="Calibri"/>
                <a:sym typeface="Calibri"/>
              </a:endParaRPr>
            </a:p>
          </p:txBody>
        </p:sp>
      </p:grpSp>
      <p:sp>
        <p:nvSpPr>
          <p:cNvPr id="68" name="Google Shape;68;p13"/>
          <p:cNvSpPr txBox="1"/>
          <p:nvPr/>
        </p:nvSpPr>
        <p:spPr>
          <a:xfrm>
            <a:off x="294494" y="2191648"/>
            <a:ext cx="11603100" cy="461700"/>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Do you agree with the novelty and objectivity scores given to your question by LLMs? Is there an LLM that is most aligned with your own judgement? Which one is the least aligned one?</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lang="en-US" sz="1200">
                <a:latin typeface="Calibri"/>
                <a:ea typeface="Calibri"/>
                <a:cs typeface="Calibri"/>
                <a:sym typeface="Calibri"/>
              </a:rPr>
              <a:t>ans. somewhat yes i agree. For this question particularly they all have same scores so all of them. i would say in regards to novelty all of them didn’t </a:t>
            </a:r>
            <a:r>
              <a:rPr lang="en-US" sz="1200">
                <a:latin typeface="Calibri"/>
                <a:ea typeface="Calibri"/>
                <a:cs typeface="Calibri"/>
                <a:sym typeface="Calibri"/>
              </a:rPr>
              <a:t>aligned</a:t>
            </a:r>
            <a:r>
              <a:rPr lang="en-US" sz="1200">
                <a:latin typeface="Calibri"/>
                <a:ea typeface="Calibri"/>
                <a:cs typeface="Calibri"/>
                <a:sym typeface="Calibri"/>
              </a:rPr>
              <a:t> with me. </a:t>
            </a:r>
            <a:endParaRPr sz="1200">
              <a:latin typeface="Calibri"/>
              <a:ea typeface="Calibri"/>
              <a:cs typeface="Calibri"/>
              <a:sym typeface="Calibri"/>
            </a:endParaRPr>
          </a:p>
        </p:txBody>
      </p:sp>
      <p:graphicFrame>
        <p:nvGraphicFramePr>
          <p:cNvPr id="69" name="Google Shape;69;p13"/>
          <p:cNvGraphicFramePr/>
          <p:nvPr/>
        </p:nvGraphicFramePr>
        <p:xfrm>
          <a:off x="8242300" y="12355"/>
          <a:ext cx="3000000" cy="3000000"/>
        </p:xfrm>
        <a:graphic>
          <a:graphicData uri="http://schemas.openxmlformats.org/drawingml/2006/table">
            <a:tbl>
              <a:tblPr firstRow="1">
                <a:noFill/>
                <a:tableStyleId>{583BE41E-CBB9-4F34-AD06-E9149AF3244E}</a:tableStyleId>
              </a:tblPr>
              <a:tblGrid>
                <a:gridCol w="1386300"/>
                <a:gridCol w="645925"/>
                <a:gridCol w="955800"/>
                <a:gridCol w="866100"/>
              </a:tblGrid>
              <a:tr h="193250">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 </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ChatGPT</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Claude Sonnet</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Deepseek R1</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94950">
                <a:tc>
                  <a:txBody>
                    <a:bodyPr/>
                    <a:lstStyle/>
                    <a:p>
                      <a:pPr indent="0" lvl="0" marL="0" marR="0" rtl="0" algn="ctr">
                        <a:lnSpc>
                          <a:spcPct val="100000"/>
                        </a:lnSpc>
                        <a:spcBef>
                          <a:spcPts val="0"/>
                        </a:spcBef>
                        <a:spcAft>
                          <a:spcPts val="0"/>
                        </a:spcAft>
                        <a:buClr>
                          <a:schemeClr val="dk1"/>
                        </a:buClr>
                        <a:buSzPts val="1200"/>
                        <a:buFont typeface="Helvetica Neue"/>
                        <a:buNone/>
                      </a:pPr>
                      <a:r>
                        <a:rPr lang="en-US" sz="1200" u="none" cap="none" strike="noStrike"/>
                        <a:t>Objectivity Score Average of 3 attempts</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0.5</a:t>
                      </a:r>
                      <a:r>
                        <a:rPr lang="en-US" sz="1200" u="none" cap="none" strike="noStrike"/>
                        <a:t>  </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0.5</a:t>
                      </a:r>
                      <a:r>
                        <a:rPr lang="en-US" sz="1200" u="none" cap="none" strike="noStrike"/>
                        <a:t> </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450">
                <a:tc>
                  <a:txBody>
                    <a:bodyPr/>
                    <a:lstStyle/>
                    <a:p>
                      <a:pPr indent="0" lvl="0" marL="0" marR="0" rtl="0" algn="ctr">
                        <a:lnSpc>
                          <a:spcPct val="100000"/>
                        </a:lnSpc>
                        <a:spcBef>
                          <a:spcPts val="0"/>
                        </a:spcBef>
                        <a:spcAft>
                          <a:spcPts val="0"/>
                        </a:spcAft>
                        <a:buClr>
                          <a:schemeClr val="dk1"/>
                        </a:buClr>
                        <a:buSzPts val="1200"/>
                        <a:buFont typeface="Helvetica Neue"/>
                        <a:buNone/>
                      </a:pPr>
                      <a:r>
                        <a:rPr lang="en-US" sz="1200" u="none" cap="none" strike="noStrike"/>
                        <a:t>Novelty Score Average of 3 attempts</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700"/>
                        <a:buFont typeface="Helvetica Neue"/>
                        <a:buNone/>
                      </a:pPr>
                      <a:r>
                        <a:rPr lang="en-US" sz="2700" u="none" cap="none" strike="noStrike"/>
                        <a:t>0.25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700"/>
                        <a:buFont typeface="Helvetica Neue"/>
                        <a:buNone/>
                      </a:pPr>
                      <a:r>
                        <a:rPr lang="en-US" sz="2700" u="none" cap="none" strike="noStrike"/>
                        <a:t>0.25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700"/>
                        <a:buFont typeface="Helvetica Neue"/>
                        <a:buNone/>
                      </a:pPr>
                      <a:r>
                        <a:rPr lang="en-US" sz="2700" u="none" cap="none" strike="noStrike"/>
                        <a:t>0.25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294497" y="312841"/>
            <a:ext cx="10515601" cy="69718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Calibri"/>
              <a:buNone/>
            </a:pPr>
            <a:r>
              <a:rPr b="0" i="0" lang="en-US" sz="4400" u="none" cap="none" strike="noStrike">
                <a:solidFill>
                  <a:srgbClr val="000000"/>
                </a:solidFill>
                <a:latin typeface="Calibri"/>
                <a:ea typeface="Calibri"/>
                <a:cs typeface="Calibri"/>
                <a:sym typeface="Calibri"/>
              </a:rPr>
              <a:t>Analysis of ChatGPT failure for Q2</a:t>
            </a:r>
            <a:endParaRPr/>
          </a:p>
        </p:txBody>
      </p:sp>
      <p:sp>
        <p:nvSpPr>
          <p:cNvPr id="75" name="Google Shape;75;p14"/>
          <p:cNvSpPr txBox="1"/>
          <p:nvPr>
            <p:ph idx="1" type="body"/>
          </p:nvPr>
        </p:nvSpPr>
        <p:spPr>
          <a:xfrm>
            <a:off x="294497" y="2679662"/>
            <a:ext cx="11603100" cy="4083600"/>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rtl="0" algn="l">
              <a:lnSpc>
                <a:spcPct val="70000"/>
              </a:lnSpc>
              <a:spcBef>
                <a:spcPts val="0"/>
              </a:spcBef>
              <a:spcAft>
                <a:spcPts val="0"/>
              </a:spcAft>
              <a:buClr>
                <a:srgbClr val="000000"/>
              </a:buClr>
              <a:buSzPts val="930"/>
              <a:buNone/>
            </a:pPr>
            <a:r>
              <a:rPr lang="en-US" sz="1200"/>
              <a:t>ChatGPT’s Answer : </a:t>
            </a:r>
            <a:r>
              <a:rPr lang="en-US" sz="1200">
                <a:solidFill>
                  <a:schemeClr val="dk1"/>
                </a:solidFill>
              </a:rPr>
              <a:t>To solve this, let’s break down the problem step-by-step.</a:t>
            </a:r>
            <a:endParaRPr sz="1200">
              <a:solidFill>
                <a:schemeClr val="dk1"/>
              </a:solidFill>
            </a:endParaRPr>
          </a:p>
          <a:p>
            <a:pPr indent="0" lvl="0" marL="0" rtl="0" algn="l">
              <a:lnSpc>
                <a:spcPct val="95000"/>
              </a:lnSpc>
              <a:spcBef>
                <a:spcPts val="0"/>
              </a:spcBef>
              <a:spcAft>
                <a:spcPts val="0"/>
              </a:spcAft>
              <a:buClr>
                <a:schemeClr val="dk1"/>
              </a:buClr>
              <a:buSzPts val="852"/>
              <a:buFont typeface="Arial"/>
              <a:buNone/>
            </a:pPr>
            <a:r>
              <a:rPr lang="en-US" sz="1200">
                <a:solidFill>
                  <a:schemeClr val="dk1"/>
                </a:solidFill>
              </a:rPr>
              <a:t>Two Identical Right-Angled Triangles: We have two right-angled triangles that are mirror images of each other.</a:t>
            </a:r>
            <a:endParaRPr sz="1200">
              <a:solidFill>
                <a:schemeClr val="dk1"/>
              </a:solidFill>
            </a:endParaRPr>
          </a:p>
          <a:p>
            <a:pPr indent="0" lvl="0" marL="0" rtl="0" algn="l">
              <a:lnSpc>
                <a:spcPct val="95000"/>
              </a:lnSpc>
              <a:spcBef>
                <a:spcPts val="0"/>
              </a:spcBef>
              <a:spcAft>
                <a:spcPts val="0"/>
              </a:spcAft>
              <a:buClr>
                <a:schemeClr val="dk1"/>
              </a:buClr>
              <a:buSzPts val="852"/>
              <a:buFont typeface="Arial"/>
              <a:buNone/>
            </a:pPr>
            <a:r>
              <a:rPr lang="en-US" sz="1200">
                <a:solidFill>
                  <a:schemeClr val="dk1"/>
                </a:solidFill>
              </a:rPr>
              <a:t>Dividing Each Triangle: Each triangle is divided into two parts by a line passing through the midpoint of the hypotenuse, which is parallel to the base. This means each triangle is now split into two smaller triangles.</a:t>
            </a:r>
            <a:endParaRPr sz="1200">
              <a:solidFill>
                <a:schemeClr val="dk1"/>
              </a:solidFill>
            </a:endParaRPr>
          </a:p>
          <a:p>
            <a:pPr indent="0" lvl="0" marL="0" rtl="0" algn="l">
              <a:lnSpc>
                <a:spcPct val="95000"/>
              </a:lnSpc>
              <a:spcBef>
                <a:spcPts val="0"/>
              </a:spcBef>
              <a:spcAft>
                <a:spcPts val="0"/>
              </a:spcAft>
              <a:buClr>
                <a:schemeClr val="dk1"/>
              </a:buClr>
              <a:buSzPts val="852"/>
              <a:buFont typeface="Arial"/>
              <a:buNone/>
            </a:pPr>
            <a:r>
              <a:rPr lang="en-US" sz="1200">
                <a:solidFill>
                  <a:schemeClr val="dk1"/>
                </a:solidFill>
              </a:rPr>
              <a:t>Joining the Triangles: The two triangles are joined from their perpendicular sides, which means the perpendicular side of each triangle becomes the height of the resulting isosceles triangle.</a:t>
            </a:r>
            <a:endParaRPr sz="1200">
              <a:solidFill>
                <a:schemeClr val="dk1"/>
              </a:solidFill>
            </a:endParaRPr>
          </a:p>
          <a:p>
            <a:pPr indent="0" lvl="0" marL="0" rtl="0" algn="l">
              <a:lnSpc>
                <a:spcPct val="95000"/>
              </a:lnSpc>
              <a:spcBef>
                <a:spcPts val="0"/>
              </a:spcBef>
              <a:spcAft>
                <a:spcPts val="0"/>
              </a:spcAft>
              <a:buClr>
                <a:schemeClr val="dk1"/>
              </a:buClr>
              <a:buSzPts val="852"/>
              <a:buFont typeface="Arial"/>
              <a:buNone/>
            </a:pPr>
            <a:r>
              <a:rPr lang="en-US" sz="1200">
                <a:solidFill>
                  <a:schemeClr val="dk1"/>
                </a:solidFill>
              </a:rPr>
              <a:t>Now, let's count the number of triangles in the new isosceles triangle.</a:t>
            </a:r>
            <a:endParaRPr sz="1200">
              <a:solidFill>
                <a:schemeClr val="dk1"/>
              </a:solidFill>
            </a:endParaRPr>
          </a:p>
          <a:p>
            <a:pPr indent="0" lvl="0" marL="0" rtl="0" algn="l">
              <a:lnSpc>
                <a:spcPct val="95000"/>
              </a:lnSpc>
              <a:spcBef>
                <a:spcPts val="0"/>
              </a:spcBef>
              <a:spcAft>
                <a:spcPts val="0"/>
              </a:spcAft>
              <a:buClr>
                <a:schemeClr val="dk1"/>
              </a:buClr>
              <a:buSzPts val="852"/>
              <a:buFont typeface="Arial"/>
              <a:buNone/>
            </a:pPr>
            <a:r>
              <a:rPr lang="en-US" sz="1200">
                <a:solidFill>
                  <a:schemeClr val="dk1"/>
                </a:solidFill>
              </a:rPr>
              <a:t>Each of the two original right-angled triangles has been divided into two smaller triangles, so we now have 4 smaller triangles in total (2 smaller triangles per original triangle).</a:t>
            </a:r>
            <a:endParaRPr sz="1200">
              <a:solidFill>
                <a:schemeClr val="dk1"/>
              </a:solidFill>
            </a:endParaRPr>
          </a:p>
          <a:p>
            <a:pPr indent="0" lvl="0" marL="0" rtl="0" algn="l">
              <a:lnSpc>
                <a:spcPct val="95000"/>
              </a:lnSpc>
              <a:spcBef>
                <a:spcPts val="0"/>
              </a:spcBef>
              <a:spcAft>
                <a:spcPts val="0"/>
              </a:spcAft>
              <a:buClr>
                <a:schemeClr val="dk1"/>
              </a:buClr>
              <a:buSzPts val="852"/>
              <a:buFont typeface="Arial"/>
              <a:buNone/>
            </a:pPr>
            <a:r>
              <a:rPr lang="en-US" sz="1200">
                <a:solidFill>
                  <a:schemeClr val="dk1"/>
                </a:solidFill>
              </a:rPr>
              <a:t>Joining the two triangles along their perpendicular sides doesn’t create any new triangles, but it forms a larger structure where the smaller triangles are embedded within it.</a:t>
            </a:r>
            <a:endParaRPr sz="1200">
              <a:solidFill>
                <a:schemeClr val="dk1"/>
              </a:solidFill>
            </a:endParaRPr>
          </a:p>
          <a:p>
            <a:pPr indent="0" lvl="0" marL="0" rtl="0" algn="l">
              <a:lnSpc>
                <a:spcPct val="95000"/>
              </a:lnSpc>
              <a:spcBef>
                <a:spcPts val="0"/>
              </a:spcBef>
              <a:spcAft>
                <a:spcPts val="0"/>
              </a:spcAft>
              <a:buClr>
                <a:schemeClr val="dk1"/>
              </a:buClr>
              <a:buSzPts val="852"/>
              <a:buFont typeface="Arial"/>
              <a:buNone/>
            </a:pPr>
            <a:r>
              <a:rPr lang="en-US" sz="1200">
                <a:solidFill>
                  <a:schemeClr val="dk1"/>
                </a:solidFill>
              </a:rPr>
              <a:t>Thus, the total number of triangles in the new isosceles triangle is 5.</a:t>
            </a:r>
            <a:endParaRPr sz="1200">
              <a:solidFill>
                <a:schemeClr val="dk1"/>
              </a:solidFill>
            </a:endParaRPr>
          </a:p>
          <a:p>
            <a:pPr indent="0" lvl="0" marL="0" rtl="0" algn="l">
              <a:lnSpc>
                <a:spcPct val="95000"/>
              </a:lnSpc>
              <a:spcBef>
                <a:spcPts val="0"/>
              </a:spcBef>
              <a:spcAft>
                <a:spcPts val="0"/>
              </a:spcAft>
              <a:buClr>
                <a:schemeClr val="dk1"/>
              </a:buClr>
              <a:buSzPts val="852"/>
              <a:buNone/>
            </a:pPr>
            <a:r>
              <a:rPr lang="en-US" sz="1200">
                <a:solidFill>
                  <a:schemeClr val="dk1"/>
                </a:solidFill>
              </a:rPr>
              <a:t>Answer: B. 5</a:t>
            </a:r>
            <a:endParaRPr sz="1200">
              <a:solidFill>
                <a:schemeClr val="dk1"/>
              </a:solidFill>
            </a:endParaRPr>
          </a:p>
          <a:p>
            <a:pPr indent="0" lvl="0" marL="0" rtl="0" algn="l">
              <a:lnSpc>
                <a:spcPct val="95000"/>
              </a:lnSpc>
              <a:spcBef>
                <a:spcPts val="0"/>
              </a:spcBef>
              <a:spcAft>
                <a:spcPts val="0"/>
              </a:spcAft>
              <a:buClr>
                <a:schemeClr val="dk1"/>
              </a:buClr>
              <a:buSzPts val="852"/>
              <a:buNone/>
            </a:pPr>
            <a:r>
              <a:rPr lang="en-US" sz="1200"/>
              <a:t>Analysis (Describe the failure. What is causing ChatGPT to fail? How this is related to existing reported issues in the literature? There should be a clear and explicit connection to the references you cite on this slide. What potential implications this weakness could have?): </a:t>
            </a:r>
            <a:endParaRPr sz="1200"/>
          </a:p>
          <a:p>
            <a:pPr indent="-304800" lvl="0" marL="457200" rtl="0" algn="l">
              <a:lnSpc>
                <a:spcPct val="95000"/>
              </a:lnSpc>
              <a:spcBef>
                <a:spcPts val="0"/>
              </a:spcBef>
              <a:spcAft>
                <a:spcPts val="0"/>
              </a:spcAft>
              <a:buSzPts val="1200"/>
              <a:buFont typeface="Calibri"/>
              <a:buAutoNum type="alphaLcPeriod"/>
            </a:pPr>
            <a:r>
              <a:rPr lang="en-US" sz="1200"/>
              <a:t>ChatGPT incorrectly claimed 5 triangles exist after geometric transformation, miscounting overlapping regions.</a:t>
            </a:r>
            <a:endParaRPr sz="1200"/>
          </a:p>
          <a:p>
            <a:pPr indent="-304800" lvl="0" marL="457200" rtl="0" algn="l">
              <a:lnSpc>
                <a:spcPct val="95000"/>
              </a:lnSpc>
              <a:spcBef>
                <a:spcPts val="0"/>
              </a:spcBef>
              <a:spcAft>
                <a:spcPts val="0"/>
              </a:spcAft>
              <a:buSzPts val="1200"/>
              <a:buFont typeface="Calibri"/>
              <a:buAutoNum type="alphaLcPeriod"/>
            </a:pPr>
            <a:r>
              <a:rPr lang="en-US" sz="1200"/>
              <a:t>Lack of spatial reasoning capabilities to visualize geometric configurations and Inability to mentally track changes in visual-spatial arrangements.</a:t>
            </a:r>
            <a:endParaRPr sz="1200"/>
          </a:p>
          <a:p>
            <a:pPr indent="0" lvl="0" marL="0" rtl="0" algn="l">
              <a:lnSpc>
                <a:spcPct val="95000"/>
              </a:lnSpc>
              <a:spcBef>
                <a:spcPts val="0"/>
              </a:spcBef>
              <a:spcAft>
                <a:spcPts val="0"/>
              </a:spcAft>
              <a:buNone/>
            </a:pPr>
            <a:r>
              <a:rPr lang="en-US" sz="1200"/>
              <a:t>Implications:</a:t>
            </a:r>
            <a:endParaRPr sz="1200"/>
          </a:p>
          <a:p>
            <a:pPr indent="-304800" lvl="0" marL="457200" rtl="0" algn="l">
              <a:lnSpc>
                <a:spcPct val="95000"/>
              </a:lnSpc>
              <a:spcBef>
                <a:spcPts val="0"/>
              </a:spcBef>
              <a:spcAft>
                <a:spcPts val="0"/>
              </a:spcAft>
              <a:buSzPts val="1200"/>
              <a:buFont typeface="Calibri"/>
              <a:buAutoNum type="alphaLcPeriod"/>
            </a:pPr>
            <a:r>
              <a:rPr lang="en-US" sz="1200"/>
              <a:t>Critical errors in CAD or architectural applications.</a:t>
            </a:r>
            <a:endParaRPr sz="1200"/>
          </a:p>
          <a:p>
            <a:pPr indent="-304800" lvl="0" marL="457200" rtl="0" algn="l">
              <a:lnSpc>
                <a:spcPct val="95000"/>
              </a:lnSpc>
              <a:spcBef>
                <a:spcPts val="0"/>
              </a:spcBef>
              <a:spcAft>
                <a:spcPts val="0"/>
              </a:spcAft>
              <a:buSzPts val="1200"/>
              <a:buFont typeface="Calibri"/>
              <a:buAutoNum type="alphaLcPeriod"/>
            </a:pPr>
            <a:r>
              <a:rPr lang="en-US" sz="1200"/>
              <a:t>Unreliable for educational contexts teaching geometry.</a:t>
            </a:r>
            <a:endParaRPr sz="1200"/>
          </a:p>
          <a:p>
            <a:pPr indent="-304800" lvl="0" marL="457200" rtl="0" algn="l">
              <a:lnSpc>
                <a:spcPct val="95000"/>
              </a:lnSpc>
              <a:spcBef>
                <a:spcPts val="0"/>
              </a:spcBef>
              <a:spcAft>
                <a:spcPts val="0"/>
              </a:spcAft>
              <a:buSzPts val="1200"/>
              <a:buFont typeface="Calibri"/>
              <a:buAutoNum type="alphaLcPeriod"/>
            </a:pPr>
            <a:r>
              <a:rPr lang="en-US" sz="1200"/>
              <a:t>Problematic for navigation systems or spatial planning.</a:t>
            </a:r>
            <a:endParaRPr sz="1200"/>
          </a:p>
          <a:p>
            <a:pPr indent="0" lvl="0" marL="0" rtl="0" algn="l">
              <a:lnSpc>
                <a:spcPct val="70000"/>
              </a:lnSpc>
              <a:spcBef>
                <a:spcPts val="1000"/>
              </a:spcBef>
              <a:spcAft>
                <a:spcPts val="0"/>
              </a:spcAft>
              <a:buClr>
                <a:srgbClr val="000000"/>
              </a:buClr>
              <a:buSzPts val="930"/>
              <a:buNone/>
            </a:pPr>
            <a:r>
              <a:rPr lang="en-US" sz="1200"/>
              <a:t>References [1] </a:t>
            </a:r>
            <a:r>
              <a:rPr b="1" lang="en-US" sz="1200"/>
              <a:t>Zhao, S., Schwartz, R., &amp; Mitchell, M. (2021). WINOGRANDE: An Adversarial Winograd Schema Challenge at Scale. </a:t>
            </a:r>
            <a:r>
              <a:rPr b="1" i="1" lang="en-US" sz="1200"/>
              <a:t>ACL Anthology</a:t>
            </a:r>
            <a:r>
              <a:rPr b="1" lang="en-US" sz="1200"/>
              <a:t>.</a:t>
            </a:r>
            <a:endParaRPr b="1" sz="1200"/>
          </a:p>
          <a:p>
            <a:pPr indent="0" lvl="0" marL="0" rtl="0" algn="l">
              <a:lnSpc>
                <a:spcPct val="70000"/>
              </a:lnSpc>
              <a:spcBef>
                <a:spcPts val="1000"/>
              </a:spcBef>
              <a:spcAft>
                <a:spcPts val="0"/>
              </a:spcAft>
              <a:buClr>
                <a:srgbClr val="000000"/>
              </a:buClr>
              <a:buSzPts val="930"/>
              <a:buNone/>
            </a:pPr>
            <a:r>
              <a:rPr lang="en-US" sz="1200"/>
              <a:t>[2] </a:t>
            </a:r>
            <a:r>
              <a:rPr b="1" lang="en-US" sz="1200"/>
              <a:t>Johnson, D. D., &amp; Dou, Y. (2020)."Vision-and-Language Navigation: Interpreting Visually-Grounded Navigation Instructions in Real Environments.” arXiv:2004.11152</a:t>
            </a:r>
            <a:endParaRPr sz="1200"/>
          </a:p>
        </p:txBody>
      </p:sp>
      <p:grpSp>
        <p:nvGrpSpPr>
          <p:cNvPr id="76" name="Google Shape;76;p14"/>
          <p:cNvGrpSpPr/>
          <p:nvPr/>
        </p:nvGrpSpPr>
        <p:grpSpPr>
          <a:xfrm>
            <a:off x="294495" y="1010019"/>
            <a:ext cx="11603009" cy="1155279"/>
            <a:chOff x="-1" y="-1"/>
            <a:chExt cx="11603008" cy="1155278"/>
          </a:xfrm>
        </p:grpSpPr>
        <p:sp>
          <p:nvSpPr>
            <p:cNvPr id="77" name="Google Shape;77;p14"/>
            <p:cNvSpPr/>
            <p:nvPr/>
          </p:nvSpPr>
          <p:spPr>
            <a:xfrm>
              <a:off x="-1" y="-1"/>
              <a:ext cx="11603008" cy="1155278"/>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90000"/>
                </a:lnSpc>
                <a:spcBef>
                  <a:spcPts val="0"/>
                </a:spcBef>
                <a:spcAft>
                  <a:spcPts val="0"/>
                </a:spcAft>
                <a:buClr>
                  <a:srgbClr val="000000"/>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78" name="Google Shape;78;p14"/>
            <p:cNvSpPr txBox="1"/>
            <p:nvPr/>
          </p:nvSpPr>
          <p:spPr>
            <a:xfrm>
              <a:off x="53657" y="7937"/>
              <a:ext cx="11495692" cy="1139402"/>
            </a:xfrm>
            <a:prstGeom prst="rect">
              <a:avLst/>
            </a:prstGeom>
            <a:noFill/>
            <a:ln>
              <a:noFill/>
            </a:ln>
          </p:spPr>
          <p:txBody>
            <a:bodyPr anchorCtr="0" anchor="t" bIns="45700" lIns="45700" spcFirstLastPara="1" rIns="45700" wrap="square" tIns="45700">
              <a:normAutofit/>
            </a:bodyPr>
            <a:lstStyle/>
            <a:p>
              <a:pPr indent="0" lvl="0" marL="0" marR="0" rtl="0" algn="l">
                <a:lnSpc>
                  <a:spcPct val="90000"/>
                </a:lnSpc>
                <a:spcBef>
                  <a:spcPts val="0"/>
                </a:spcBef>
                <a:spcAft>
                  <a:spcPts val="0"/>
                </a:spcAft>
                <a:buClr>
                  <a:srgbClr val="000000"/>
                </a:buClr>
                <a:buSzPts val="1275"/>
                <a:buFont typeface="Calibri"/>
                <a:buNone/>
              </a:pPr>
              <a:r>
                <a:rPr i="0" lang="en-US" sz="1275" u="none" cap="none" strike="noStrike">
                  <a:solidFill>
                    <a:srgbClr val="000000"/>
                  </a:solidFill>
                  <a:latin typeface="Calibri"/>
                  <a:ea typeface="Calibri"/>
                  <a:cs typeface="Calibri"/>
                  <a:sym typeface="Calibri"/>
                </a:rPr>
                <a:t>Question: There are two mirror-image identical right-angled triangles, each is divided in two parts by a line which passes through the midpoint of the hypotenuse and parallel to base line. Now we just joined the two triangles from perpendicular side making it isosceles triangle how many triangles does new isosceles triangle will have in it?</a:t>
              </a:r>
              <a:endParaRPr>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75"/>
                <a:buFont typeface="Times"/>
                <a:buNone/>
              </a:pPr>
              <a:r>
                <a:rPr i="0" lang="en-US" sz="1275" u="none" cap="none" strike="noStrike">
                  <a:solidFill>
                    <a:srgbClr val="000000"/>
                  </a:solidFill>
                  <a:latin typeface="Calibri"/>
                  <a:ea typeface="Calibri"/>
                  <a:cs typeface="Calibri"/>
                  <a:sym typeface="Calibri"/>
                </a:rPr>
                <a:t>A.4  B.5  C.6  D.7</a:t>
              </a:r>
              <a:endParaRPr>
                <a:latin typeface="Calibri"/>
                <a:ea typeface="Calibri"/>
                <a:cs typeface="Calibri"/>
                <a:sym typeface="Calibri"/>
              </a:endParaRPr>
            </a:p>
            <a:p>
              <a:pPr indent="0" lvl="0" marL="0" marR="0" rtl="0" algn="l">
                <a:lnSpc>
                  <a:spcPct val="90000"/>
                </a:lnSpc>
                <a:spcBef>
                  <a:spcPts val="200"/>
                </a:spcBef>
                <a:spcAft>
                  <a:spcPts val="0"/>
                </a:spcAft>
                <a:buClr>
                  <a:srgbClr val="000000"/>
                </a:buClr>
                <a:buSzPts val="1275"/>
                <a:buFont typeface="Calibri"/>
                <a:buNone/>
              </a:pPr>
              <a:r>
                <a:rPr i="0" lang="en-US" sz="1275" u="none" cap="none" strike="noStrike">
                  <a:solidFill>
                    <a:srgbClr val="000000"/>
                  </a:solidFill>
                  <a:latin typeface="Calibri"/>
                  <a:ea typeface="Calibri"/>
                  <a:cs typeface="Calibri"/>
                  <a:sym typeface="Calibri"/>
                </a:rPr>
                <a:t>Correct Answer: C.6</a:t>
              </a:r>
              <a:endParaRPr>
                <a:latin typeface="Calibri"/>
                <a:ea typeface="Calibri"/>
                <a:cs typeface="Calibri"/>
                <a:sym typeface="Calibri"/>
              </a:endParaRPr>
            </a:p>
          </p:txBody>
        </p:sp>
      </p:grpSp>
      <p:sp>
        <p:nvSpPr>
          <p:cNvPr id="79" name="Google Shape;79;p14"/>
          <p:cNvSpPr txBox="1"/>
          <p:nvPr/>
        </p:nvSpPr>
        <p:spPr>
          <a:xfrm>
            <a:off x="294494" y="2191648"/>
            <a:ext cx="11603100" cy="461700"/>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Do you agree with the novelty and objectivity scores given to your question by LLMs? Is there an LLM that is most aligned with your own judgement? Which one is the least aligned one?</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lang="en-US" sz="1200">
                <a:latin typeface="Calibri"/>
                <a:ea typeface="Calibri"/>
                <a:cs typeface="Calibri"/>
                <a:sym typeface="Calibri"/>
              </a:rPr>
              <a:t>ans yes i agree with objectivity score but not with novelty score. Chatpt is most </a:t>
            </a:r>
            <a:r>
              <a:rPr lang="en-US" sz="1200">
                <a:latin typeface="Calibri"/>
                <a:ea typeface="Calibri"/>
                <a:cs typeface="Calibri"/>
                <a:sym typeface="Calibri"/>
              </a:rPr>
              <a:t>aligned</a:t>
            </a:r>
            <a:r>
              <a:rPr lang="en-US" sz="1200">
                <a:latin typeface="Calibri"/>
                <a:ea typeface="Calibri"/>
                <a:cs typeface="Calibri"/>
                <a:sym typeface="Calibri"/>
              </a:rPr>
              <a:t> for this particular question. i would say least aligned would be both claude and deepseek.</a:t>
            </a:r>
            <a:endParaRPr sz="1200">
              <a:latin typeface="Calibri"/>
              <a:ea typeface="Calibri"/>
              <a:cs typeface="Calibri"/>
              <a:sym typeface="Calibri"/>
            </a:endParaRPr>
          </a:p>
        </p:txBody>
      </p:sp>
      <p:graphicFrame>
        <p:nvGraphicFramePr>
          <p:cNvPr id="80" name="Google Shape;80;p14"/>
          <p:cNvGraphicFramePr/>
          <p:nvPr/>
        </p:nvGraphicFramePr>
        <p:xfrm>
          <a:off x="8242300" y="12355"/>
          <a:ext cx="3000000" cy="3000000"/>
        </p:xfrm>
        <a:graphic>
          <a:graphicData uri="http://schemas.openxmlformats.org/drawingml/2006/table">
            <a:tbl>
              <a:tblPr firstRow="1">
                <a:noFill/>
                <a:tableStyleId>{583BE41E-CBB9-4F34-AD06-E9149AF3244E}</a:tableStyleId>
              </a:tblPr>
              <a:tblGrid>
                <a:gridCol w="1420675"/>
                <a:gridCol w="661950"/>
                <a:gridCol w="979500"/>
                <a:gridCol w="887575"/>
              </a:tblGrid>
              <a:tr h="203200">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 </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ChatGPT</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Claude Sonnet</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Deepseek R1</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200">
                <a:tc>
                  <a:txBody>
                    <a:bodyPr/>
                    <a:lstStyle/>
                    <a:p>
                      <a:pPr indent="0" lvl="0" marL="0" marR="0" rtl="0" algn="ctr">
                        <a:lnSpc>
                          <a:spcPct val="100000"/>
                        </a:lnSpc>
                        <a:spcBef>
                          <a:spcPts val="0"/>
                        </a:spcBef>
                        <a:spcAft>
                          <a:spcPts val="0"/>
                        </a:spcAft>
                        <a:buClr>
                          <a:schemeClr val="dk1"/>
                        </a:buClr>
                        <a:buSzPts val="1200"/>
                        <a:buFont typeface="Helvetica Neue"/>
                        <a:buNone/>
                      </a:pPr>
                      <a:r>
                        <a:rPr lang="en-US" sz="1200" u="none" cap="none" strike="noStrike"/>
                        <a:t>Objectivity Score Average of 3 attempts</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0.5</a:t>
                      </a:r>
                      <a:r>
                        <a:rPr lang="en-US" sz="1200" u="none" cap="none" strike="noStrike"/>
                        <a:t>  </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0.5</a:t>
                      </a:r>
                      <a:r>
                        <a:rPr lang="en-US" sz="1200" u="none" cap="none" strike="noStrike"/>
                        <a:t>  </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0.5</a:t>
                      </a:r>
                      <a:r>
                        <a:rPr lang="en-US" sz="1200" u="none" cap="none" strike="noStrike"/>
                        <a:t>  </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5925">
                <a:tc>
                  <a:txBody>
                    <a:bodyPr/>
                    <a:lstStyle/>
                    <a:p>
                      <a:pPr indent="0" lvl="0" marL="0" marR="0" rtl="0" algn="ctr">
                        <a:lnSpc>
                          <a:spcPct val="100000"/>
                        </a:lnSpc>
                        <a:spcBef>
                          <a:spcPts val="0"/>
                        </a:spcBef>
                        <a:spcAft>
                          <a:spcPts val="0"/>
                        </a:spcAft>
                        <a:buClr>
                          <a:schemeClr val="dk1"/>
                        </a:buClr>
                        <a:buSzPts val="1200"/>
                        <a:buFont typeface="Helvetica Neue"/>
                        <a:buNone/>
                      </a:pPr>
                      <a:r>
                        <a:rPr lang="en-US" sz="1200" u="none" cap="none" strike="noStrike"/>
                        <a:t>Novelty Score Average of 3 attempts</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0.42</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0.33</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0.33</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type="title"/>
          </p:nvPr>
        </p:nvSpPr>
        <p:spPr>
          <a:xfrm>
            <a:off x="294497" y="312841"/>
            <a:ext cx="10515601" cy="69718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Calibri"/>
              <a:buNone/>
            </a:pPr>
            <a:r>
              <a:rPr b="0" i="0" lang="en-US" sz="4400" u="none" cap="none" strike="noStrike">
                <a:solidFill>
                  <a:srgbClr val="000000"/>
                </a:solidFill>
                <a:latin typeface="Calibri"/>
                <a:ea typeface="Calibri"/>
                <a:cs typeface="Calibri"/>
                <a:sym typeface="Calibri"/>
              </a:rPr>
              <a:t>Analysis of ChatGPT failure for Q3</a:t>
            </a:r>
            <a:endParaRPr/>
          </a:p>
        </p:txBody>
      </p:sp>
      <p:sp>
        <p:nvSpPr>
          <p:cNvPr id="86" name="Google Shape;86;p15"/>
          <p:cNvSpPr txBox="1"/>
          <p:nvPr>
            <p:ph idx="1" type="body"/>
          </p:nvPr>
        </p:nvSpPr>
        <p:spPr>
          <a:xfrm>
            <a:off x="294497" y="2679662"/>
            <a:ext cx="11603003" cy="4083705"/>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normAutofit/>
          </a:bodyPr>
          <a:lstStyle/>
          <a:p>
            <a:pPr indent="0" lvl="0" marL="0" rtl="0" algn="l">
              <a:lnSpc>
                <a:spcPct val="90000"/>
              </a:lnSpc>
              <a:spcBef>
                <a:spcPts val="0"/>
              </a:spcBef>
              <a:spcAft>
                <a:spcPts val="0"/>
              </a:spcAft>
              <a:buClr>
                <a:srgbClr val="000000"/>
              </a:buClr>
              <a:buSzPts val="1200"/>
              <a:buNone/>
            </a:pPr>
            <a:r>
              <a:rPr lang="en-US" sz="1200"/>
              <a:t>ChatGPT’s Answer : </a:t>
            </a:r>
            <a:r>
              <a:rPr lang="en-US" sz="1200">
                <a:solidFill>
                  <a:schemeClr val="dk1"/>
                </a:solidFill>
                <a:latin typeface="Arial"/>
                <a:ea typeface="Arial"/>
                <a:cs typeface="Arial"/>
                <a:sym typeface="Arial"/>
              </a:rPr>
              <a:t>To get your pencil, the most logical item to open first would be the geometry box, as it is the item most likely to contain a pencil.</a:t>
            </a:r>
            <a:endParaRPr sz="1200">
              <a:solidFill>
                <a:schemeClr val="dk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250">
                <a:solidFill>
                  <a:schemeClr val="dk1"/>
                </a:solidFill>
              </a:rPr>
              <a:t>Answer: A. geometry box</a:t>
            </a:r>
            <a:endParaRPr sz="1250">
              <a:solidFill>
                <a:schemeClr val="dk1"/>
              </a:solidFill>
            </a:endParaRPr>
          </a:p>
          <a:p>
            <a:pPr indent="0" lvl="0" marL="0" rtl="0" algn="l">
              <a:lnSpc>
                <a:spcPct val="90000"/>
              </a:lnSpc>
              <a:spcBef>
                <a:spcPts val="0"/>
              </a:spcBef>
              <a:spcAft>
                <a:spcPts val="0"/>
              </a:spcAft>
              <a:buClr>
                <a:srgbClr val="000000"/>
              </a:buClr>
              <a:buSzPts val="1200"/>
              <a:buNone/>
            </a:pPr>
            <a:r>
              <a:t/>
            </a:r>
            <a:endParaRPr sz="1250"/>
          </a:p>
          <a:p>
            <a:pPr indent="0" lvl="0" marL="0" rtl="0" algn="l">
              <a:lnSpc>
                <a:spcPct val="90000"/>
              </a:lnSpc>
              <a:spcBef>
                <a:spcPts val="1000"/>
              </a:spcBef>
              <a:spcAft>
                <a:spcPts val="0"/>
              </a:spcAft>
              <a:buClr>
                <a:srgbClr val="000000"/>
              </a:buClr>
              <a:buSzPts val="1200"/>
              <a:buNone/>
            </a:pPr>
            <a:r>
              <a:rPr lang="en-US" sz="1250"/>
              <a:t>Analysis (Describe the failure. What is causing ChatGPT to fail? How this is related to existing reported issues in the literature? There should be a clear and explicit connection to the references you cite on this slide. What potential implications this weakness could have?): </a:t>
            </a:r>
            <a:endParaRPr sz="1250"/>
          </a:p>
          <a:p>
            <a:pPr indent="-307975" lvl="0" marL="457200" rtl="0" algn="l">
              <a:lnSpc>
                <a:spcPct val="90000"/>
              </a:lnSpc>
              <a:spcBef>
                <a:spcPts val="1000"/>
              </a:spcBef>
              <a:spcAft>
                <a:spcPts val="0"/>
              </a:spcAft>
              <a:buSzPts val="1250"/>
              <a:buFont typeface="Calibri"/>
              <a:buAutoNum type="alphaLcPeriod"/>
            </a:pPr>
            <a:r>
              <a:rPr lang="en-US" sz="1250"/>
              <a:t>ChatGPT incorrectly chose "geometry box" over "bag" as the most likely location for a pencil.</a:t>
            </a:r>
            <a:endParaRPr sz="1250"/>
          </a:p>
          <a:p>
            <a:pPr indent="-307975" lvl="0" marL="457200" rtl="0" algn="l">
              <a:spcBef>
                <a:spcPts val="0"/>
              </a:spcBef>
              <a:spcAft>
                <a:spcPts val="0"/>
              </a:spcAft>
              <a:buSzPts val="1250"/>
              <a:buFont typeface="Calibri"/>
              <a:buAutoNum type="alphaLcPeriod"/>
            </a:pPr>
            <a:r>
              <a:rPr lang="en-US" sz="1250"/>
              <a:t>Over-reliance on stereotypical associations (geometry box = pencils).</a:t>
            </a:r>
            <a:endParaRPr sz="1250"/>
          </a:p>
          <a:p>
            <a:pPr indent="-307975" lvl="0" marL="457200" rtl="0" algn="l">
              <a:spcBef>
                <a:spcPts val="0"/>
              </a:spcBef>
              <a:spcAft>
                <a:spcPts val="0"/>
              </a:spcAft>
              <a:buSzPts val="1250"/>
              <a:buFont typeface="Calibri"/>
              <a:buAutoNum type="alphaLcPeriod"/>
            </a:pPr>
            <a:r>
              <a:rPr lang="en-US" sz="1250"/>
              <a:t>Failure to apply probabilistic reasoning about real-world likelihood.</a:t>
            </a:r>
            <a:endParaRPr sz="1250"/>
          </a:p>
          <a:p>
            <a:pPr indent="-307975" lvl="0" marL="457200" rtl="0" algn="l">
              <a:lnSpc>
                <a:spcPct val="90000"/>
              </a:lnSpc>
              <a:spcBef>
                <a:spcPts val="0"/>
              </a:spcBef>
              <a:spcAft>
                <a:spcPts val="0"/>
              </a:spcAft>
              <a:buSzPts val="1250"/>
              <a:buFont typeface="Calibri"/>
              <a:buAutoNum type="alphaLcPeriod"/>
            </a:pPr>
            <a:r>
              <a:rPr lang="en-US" sz="1250"/>
              <a:t>Prioritizes semantic connections over practical probability.</a:t>
            </a:r>
            <a:endParaRPr sz="1250"/>
          </a:p>
          <a:p>
            <a:pPr indent="0" lvl="0" marL="0" rtl="0" algn="l">
              <a:lnSpc>
                <a:spcPct val="90000"/>
              </a:lnSpc>
              <a:spcBef>
                <a:spcPts val="1000"/>
              </a:spcBef>
              <a:spcAft>
                <a:spcPts val="0"/>
              </a:spcAft>
              <a:buClr>
                <a:srgbClr val="000000"/>
              </a:buClr>
              <a:buSzPts val="1200"/>
              <a:buNone/>
            </a:pPr>
            <a:r>
              <a:rPr lang="en-US" sz="1250"/>
              <a:t>Implications:</a:t>
            </a:r>
            <a:endParaRPr sz="1250"/>
          </a:p>
          <a:p>
            <a:pPr indent="-307975" lvl="0" marL="457200" rtl="0" algn="l">
              <a:lnSpc>
                <a:spcPct val="90000"/>
              </a:lnSpc>
              <a:spcBef>
                <a:spcPts val="1000"/>
              </a:spcBef>
              <a:spcAft>
                <a:spcPts val="0"/>
              </a:spcAft>
              <a:buSzPts val="1250"/>
              <a:buFont typeface="Calibri"/>
              <a:buAutoNum type="alphaLcPeriod"/>
            </a:pPr>
            <a:r>
              <a:rPr lang="en-US" sz="1250"/>
              <a:t>Poor performance in robotics or recommendation systems.</a:t>
            </a:r>
            <a:endParaRPr sz="1250"/>
          </a:p>
          <a:p>
            <a:pPr indent="-307975" lvl="0" marL="457200" rtl="0" algn="l">
              <a:lnSpc>
                <a:spcPct val="90000"/>
              </a:lnSpc>
              <a:spcBef>
                <a:spcPts val="0"/>
              </a:spcBef>
              <a:spcAft>
                <a:spcPts val="0"/>
              </a:spcAft>
              <a:buSzPts val="1250"/>
              <a:buFont typeface="Calibri"/>
              <a:buAutoNum type="alphaLcPeriod"/>
            </a:pPr>
            <a:r>
              <a:rPr lang="en-US" sz="1250"/>
              <a:t>Misleading advice in customer service applications.</a:t>
            </a:r>
            <a:endParaRPr sz="1250"/>
          </a:p>
          <a:p>
            <a:pPr indent="-307975" lvl="0" marL="457200" rtl="0" algn="l">
              <a:lnSpc>
                <a:spcPct val="90000"/>
              </a:lnSpc>
              <a:spcBef>
                <a:spcPts val="0"/>
              </a:spcBef>
              <a:spcAft>
                <a:spcPts val="0"/>
              </a:spcAft>
              <a:buSzPts val="1250"/>
              <a:buFont typeface="Calibri"/>
              <a:buAutoNum type="alphaLcPeriod"/>
            </a:pPr>
            <a:r>
              <a:rPr lang="en-US" sz="1250"/>
              <a:t>Reinforces impractical thinking in educational contexts.</a:t>
            </a:r>
            <a:endParaRPr sz="1250"/>
          </a:p>
          <a:p>
            <a:pPr indent="-307975" lvl="0" marL="457200" rtl="0" algn="l">
              <a:lnSpc>
                <a:spcPct val="90000"/>
              </a:lnSpc>
              <a:spcBef>
                <a:spcPts val="0"/>
              </a:spcBef>
              <a:spcAft>
                <a:spcPts val="0"/>
              </a:spcAft>
              <a:buSzPts val="1250"/>
              <a:buFont typeface="Calibri"/>
              <a:buAutoNum type="alphaLcPeriod"/>
            </a:pPr>
            <a:r>
              <a:rPr lang="en-US" sz="1250"/>
              <a:t>Limitations for any system requiring real-world probability assessment.</a:t>
            </a:r>
            <a:endParaRPr sz="1250"/>
          </a:p>
          <a:p>
            <a:pPr indent="0" lvl="0" marL="457200" rtl="0" algn="l">
              <a:lnSpc>
                <a:spcPct val="90000"/>
              </a:lnSpc>
              <a:spcBef>
                <a:spcPts val="1000"/>
              </a:spcBef>
              <a:spcAft>
                <a:spcPts val="0"/>
              </a:spcAft>
              <a:buNone/>
            </a:pPr>
            <a:r>
              <a:t/>
            </a:r>
            <a:endParaRPr sz="1250"/>
          </a:p>
          <a:p>
            <a:pPr indent="0" lvl="0" marL="0" rtl="0" algn="l">
              <a:lnSpc>
                <a:spcPct val="90000"/>
              </a:lnSpc>
              <a:spcBef>
                <a:spcPts val="1000"/>
              </a:spcBef>
              <a:spcAft>
                <a:spcPts val="0"/>
              </a:spcAft>
              <a:buClr>
                <a:srgbClr val="000000"/>
              </a:buClr>
              <a:buSzPts val="1200"/>
              <a:buNone/>
            </a:pPr>
            <a:r>
              <a:rPr lang="en-US" sz="1250"/>
              <a:t>References</a:t>
            </a:r>
            <a:r>
              <a:rPr lang="en-US" sz="1250"/>
              <a:t> </a:t>
            </a:r>
            <a:r>
              <a:rPr lang="en-US" sz="1250"/>
              <a:t>[1] </a:t>
            </a:r>
            <a:r>
              <a:rPr b="1" lang="en-US" sz="1250"/>
              <a:t>Bisk, Y., Zellers, R., Bras, R., Gao, J., &amp; Choi, Y. (2020). PIQA: Reasoning about Physical Commonsense in Natural Language. </a:t>
            </a:r>
            <a:r>
              <a:rPr b="1" i="1" lang="en-US" sz="1250"/>
              <a:t>arXiv:1911.11641</a:t>
            </a:r>
            <a:r>
              <a:rPr b="1" lang="en-US" sz="1250"/>
              <a:t>.</a:t>
            </a:r>
            <a:endParaRPr sz="1250"/>
          </a:p>
          <a:p>
            <a:pPr indent="0" lvl="0" marL="0" rtl="0" algn="l">
              <a:lnSpc>
                <a:spcPct val="90000"/>
              </a:lnSpc>
              <a:spcBef>
                <a:spcPts val="1000"/>
              </a:spcBef>
              <a:spcAft>
                <a:spcPts val="0"/>
              </a:spcAft>
              <a:buClr>
                <a:srgbClr val="000000"/>
              </a:buClr>
              <a:buSzPts val="1200"/>
              <a:buNone/>
            </a:pPr>
            <a:r>
              <a:rPr lang="en-US" sz="1250"/>
              <a:t>[2] </a:t>
            </a:r>
            <a:r>
              <a:rPr b="1" lang="en-US" sz="1250"/>
              <a:t>Dalvi, B., Rashkin, H., Singh, S., &amp; Clark, P. (2021). "Explaining Answers with Entailment Trees.” arXiv:2104.08661</a:t>
            </a:r>
            <a:endParaRPr sz="1250"/>
          </a:p>
        </p:txBody>
      </p:sp>
      <p:grpSp>
        <p:nvGrpSpPr>
          <p:cNvPr id="87" name="Google Shape;87;p15"/>
          <p:cNvGrpSpPr/>
          <p:nvPr/>
        </p:nvGrpSpPr>
        <p:grpSpPr>
          <a:xfrm>
            <a:off x="294495" y="1010019"/>
            <a:ext cx="11603009" cy="1155279"/>
            <a:chOff x="-1" y="-1"/>
            <a:chExt cx="11603008" cy="1155278"/>
          </a:xfrm>
        </p:grpSpPr>
        <p:sp>
          <p:nvSpPr>
            <p:cNvPr id="88" name="Google Shape;88;p15"/>
            <p:cNvSpPr/>
            <p:nvPr/>
          </p:nvSpPr>
          <p:spPr>
            <a:xfrm>
              <a:off x="-1" y="-1"/>
              <a:ext cx="11603008" cy="1155278"/>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90000"/>
                </a:lnSpc>
                <a:spcBef>
                  <a:spcPts val="0"/>
                </a:spcBef>
                <a:spcAft>
                  <a:spcPts val="0"/>
                </a:spcAft>
                <a:buClr>
                  <a:srgbClr val="000000"/>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 name="Google Shape;89;p15"/>
            <p:cNvSpPr txBox="1"/>
            <p:nvPr/>
          </p:nvSpPr>
          <p:spPr>
            <a:xfrm>
              <a:off x="53657" y="7937"/>
              <a:ext cx="11495692" cy="1139402"/>
            </a:xfrm>
            <a:prstGeom prst="rect">
              <a:avLst/>
            </a:prstGeom>
            <a:noFill/>
            <a:ln>
              <a:noFill/>
            </a:ln>
          </p:spPr>
          <p:txBody>
            <a:bodyPr anchorCtr="0" anchor="t" bIns="45700" lIns="45700" spcFirstLastPara="1" rIns="45700" wrap="square" tIns="45700">
              <a:normAutofit/>
            </a:bodyPr>
            <a:lstStyle/>
            <a:p>
              <a:pPr indent="0" lvl="0" marL="0" marR="0" rtl="0" algn="l">
                <a:lnSpc>
                  <a:spcPct val="90000"/>
                </a:lnSpc>
                <a:spcBef>
                  <a:spcPts val="0"/>
                </a:spcBef>
                <a:spcAft>
                  <a:spcPts val="0"/>
                </a:spcAft>
                <a:buClr>
                  <a:srgbClr val="000000"/>
                </a:buClr>
                <a:buSzPts val="1600"/>
                <a:buFont typeface="Times"/>
                <a:buNone/>
              </a:pPr>
              <a:r>
                <a:rPr i="0" lang="en-US" sz="1600" u="none" cap="none" strike="noStrike">
                  <a:solidFill>
                    <a:srgbClr val="000000"/>
                  </a:solidFill>
                  <a:latin typeface="Calibri"/>
                  <a:ea typeface="Calibri"/>
                  <a:cs typeface="Calibri"/>
                  <a:sym typeface="Calibri"/>
                </a:rPr>
                <a:t>Question: I have geometry box, bottle, lunch in my bag. what should i open very firstly to get my pencil?</a:t>
              </a:r>
              <a:endParaRPr>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Times"/>
                <a:buNone/>
              </a:pPr>
              <a:r>
                <a:rPr i="0" lang="en-US" sz="1600" u="none" cap="none" strike="noStrike">
                  <a:solidFill>
                    <a:srgbClr val="000000"/>
                  </a:solidFill>
                  <a:latin typeface="Calibri"/>
                  <a:ea typeface="Calibri"/>
                  <a:cs typeface="Calibri"/>
                  <a:sym typeface="Calibri"/>
                </a:rPr>
                <a:t>A. geometry box B. bag C. lunch D. bottle</a:t>
              </a:r>
              <a:endParaRPr i="0" sz="1600" u="none" cap="none" strike="noStrike">
                <a:solidFill>
                  <a:srgbClr val="000000"/>
                </a:solidFill>
                <a:latin typeface="Calibri"/>
                <a:ea typeface="Calibri"/>
                <a:cs typeface="Calibri"/>
                <a:sym typeface="Calibri"/>
              </a:endParaRPr>
            </a:p>
            <a:p>
              <a:pPr indent="0" lvl="0" marL="0" marR="0" rtl="0" algn="l">
                <a:lnSpc>
                  <a:spcPct val="90000"/>
                </a:lnSpc>
                <a:spcBef>
                  <a:spcPts val="500"/>
                </a:spcBef>
                <a:spcAft>
                  <a:spcPts val="0"/>
                </a:spcAft>
                <a:buClr>
                  <a:srgbClr val="000000"/>
                </a:buClr>
                <a:buSzPts val="1600"/>
                <a:buFont typeface="Times"/>
                <a:buNone/>
              </a:pPr>
              <a:r>
                <a:rPr i="0" lang="en-US" sz="1600" u="none" cap="none" strike="noStrike">
                  <a:solidFill>
                    <a:srgbClr val="000000"/>
                  </a:solidFill>
                  <a:latin typeface="Calibri"/>
                  <a:ea typeface="Calibri"/>
                  <a:cs typeface="Calibri"/>
                  <a:sym typeface="Calibri"/>
                </a:rPr>
                <a:t>Correct Answer: B. bag</a:t>
              </a:r>
              <a:endParaRPr>
                <a:latin typeface="Calibri"/>
                <a:ea typeface="Calibri"/>
                <a:cs typeface="Calibri"/>
                <a:sym typeface="Calibri"/>
              </a:endParaRPr>
            </a:p>
          </p:txBody>
        </p:sp>
      </p:grpSp>
      <p:sp>
        <p:nvSpPr>
          <p:cNvPr id="90" name="Google Shape;90;p15"/>
          <p:cNvSpPr txBox="1"/>
          <p:nvPr/>
        </p:nvSpPr>
        <p:spPr>
          <a:xfrm>
            <a:off x="294494" y="2191648"/>
            <a:ext cx="11603100" cy="461700"/>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Do you agree with the novelty and objectivity scores given to your question by LLMs? Is there an LLM that is most aligned with your own judgement? Which one is the least aligned one?</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lang="en-US" sz="1200">
                <a:latin typeface="Calibri"/>
                <a:ea typeface="Calibri"/>
                <a:cs typeface="Calibri"/>
                <a:sym typeface="Calibri"/>
              </a:rPr>
              <a:t>ans i somewhat agrees with chatgpt for both scores but i would say deepseek is least </a:t>
            </a:r>
            <a:r>
              <a:rPr lang="en-US" sz="1200">
                <a:latin typeface="Calibri"/>
                <a:ea typeface="Calibri"/>
                <a:cs typeface="Calibri"/>
                <a:sym typeface="Calibri"/>
              </a:rPr>
              <a:t>aligned</a:t>
            </a:r>
            <a:r>
              <a:rPr lang="en-US" sz="1200">
                <a:latin typeface="Calibri"/>
                <a:ea typeface="Calibri"/>
                <a:cs typeface="Calibri"/>
                <a:sym typeface="Calibri"/>
              </a:rPr>
              <a:t> one.</a:t>
            </a:r>
            <a:endParaRPr sz="1200">
              <a:latin typeface="Calibri"/>
              <a:ea typeface="Calibri"/>
              <a:cs typeface="Calibri"/>
              <a:sym typeface="Calibri"/>
            </a:endParaRPr>
          </a:p>
        </p:txBody>
      </p:sp>
      <p:graphicFrame>
        <p:nvGraphicFramePr>
          <p:cNvPr id="91" name="Google Shape;91;p15"/>
          <p:cNvGraphicFramePr/>
          <p:nvPr/>
        </p:nvGraphicFramePr>
        <p:xfrm>
          <a:off x="8242300" y="12355"/>
          <a:ext cx="3000000" cy="3000000"/>
        </p:xfrm>
        <a:graphic>
          <a:graphicData uri="http://schemas.openxmlformats.org/drawingml/2006/table">
            <a:tbl>
              <a:tblPr firstRow="1">
                <a:noFill/>
                <a:tableStyleId>{583BE41E-CBB9-4F34-AD06-E9149AF3244E}</a:tableStyleId>
              </a:tblPr>
              <a:tblGrid>
                <a:gridCol w="1420675"/>
                <a:gridCol w="661950"/>
                <a:gridCol w="979500"/>
                <a:gridCol w="887575"/>
              </a:tblGrid>
              <a:tr h="203200">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 </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ChatGPT</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Claude Sonnet</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Deepseek R1</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200">
                <a:tc>
                  <a:txBody>
                    <a:bodyPr/>
                    <a:lstStyle/>
                    <a:p>
                      <a:pPr indent="0" lvl="0" marL="0" marR="0" rtl="0" algn="ctr">
                        <a:lnSpc>
                          <a:spcPct val="100000"/>
                        </a:lnSpc>
                        <a:spcBef>
                          <a:spcPts val="0"/>
                        </a:spcBef>
                        <a:spcAft>
                          <a:spcPts val="0"/>
                        </a:spcAft>
                        <a:buClr>
                          <a:schemeClr val="dk1"/>
                        </a:buClr>
                        <a:buSzPts val="1200"/>
                        <a:buFont typeface="Helvetica Neue"/>
                        <a:buNone/>
                      </a:pPr>
                      <a:r>
                        <a:rPr lang="en-US" sz="1200" u="none" cap="none" strike="noStrike"/>
                        <a:t>Objectivity Score Average of 3 attempts</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700"/>
                        <a:buFont typeface="Helvetica Neue"/>
                        <a:buNone/>
                      </a:pPr>
                      <a:r>
                        <a:rPr lang="en-US" sz="2700" u="none" cap="none" strike="noStrike"/>
                        <a:t>0.25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5925">
                <a:tc>
                  <a:txBody>
                    <a:bodyPr/>
                    <a:lstStyle/>
                    <a:p>
                      <a:pPr indent="0" lvl="0" marL="0" marR="0" rtl="0" algn="ctr">
                        <a:lnSpc>
                          <a:spcPct val="100000"/>
                        </a:lnSpc>
                        <a:spcBef>
                          <a:spcPts val="0"/>
                        </a:spcBef>
                        <a:spcAft>
                          <a:spcPts val="0"/>
                        </a:spcAft>
                        <a:buClr>
                          <a:schemeClr val="dk1"/>
                        </a:buClr>
                        <a:buSzPts val="1200"/>
                        <a:buFont typeface="Helvetica Neue"/>
                        <a:buNone/>
                      </a:pPr>
                      <a:r>
                        <a:rPr lang="en-US" sz="1200" u="none" cap="none" strike="noStrike"/>
                        <a:t>Novelty Score Average of 3 attempts</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0.33</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700"/>
                        <a:buFont typeface="Helvetica Neue"/>
                        <a:buNone/>
                      </a:pPr>
                      <a:r>
                        <a:rPr lang="en-US" sz="2700" u="none" cap="none" strike="noStrike"/>
                        <a:t>0.25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700"/>
                        <a:buFont typeface="Helvetica Neue"/>
                        <a:buNone/>
                      </a:pPr>
                      <a:r>
                        <a:rPr lang="en-US" sz="2700" u="none" cap="none" strike="noStrike"/>
                        <a:t>0.17</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6"/>
          <p:cNvSpPr txBox="1"/>
          <p:nvPr>
            <p:ph type="title"/>
          </p:nvPr>
        </p:nvSpPr>
        <p:spPr>
          <a:xfrm>
            <a:off x="294497" y="312841"/>
            <a:ext cx="10515601" cy="697181"/>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Calibri"/>
              <a:buNone/>
            </a:pPr>
            <a:r>
              <a:rPr b="0" i="0" lang="en-US" sz="4400" u="none" cap="none" strike="noStrike">
                <a:solidFill>
                  <a:srgbClr val="000000"/>
                </a:solidFill>
                <a:latin typeface="Calibri"/>
                <a:ea typeface="Calibri"/>
                <a:cs typeface="Calibri"/>
                <a:sym typeface="Calibri"/>
              </a:rPr>
              <a:t>Analysis of ChatGPT failure for Q4</a:t>
            </a:r>
            <a:endParaRPr/>
          </a:p>
        </p:txBody>
      </p:sp>
      <p:sp>
        <p:nvSpPr>
          <p:cNvPr id="97" name="Google Shape;97;p16"/>
          <p:cNvSpPr txBox="1"/>
          <p:nvPr>
            <p:ph idx="1" type="body"/>
          </p:nvPr>
        </p:nvSpPr>
        <p:spPr>
          <a:xfrm>
            <a:off x="294497" y="2679662"/>
            <a:ext cx="11603003" cy="4083706"/>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rtl="0" algn="l">
              <a:lnSpc>
                <a:spcPct val="90000"/>
              </a:lnSpc>
              <a:spcBef>
                <a:spcPts val="0"/>
              </a:spcBef>
              <a:spcAft>
                <a:spcPts val="0"/>
              </a:spcAft>
              <a:buClr>
                <a:srgbClr val="000000"/>
              </a:buClr>
              <a:buSzPts val="1200"/>
              <a:buNone/>
            </a:pPr>
            <a:r>
              <a:rPr lang="en-US" sz="1200"/>
              <a:t>ChatGPT’s Answer : </a:t>
            </a:r>
            <a:r>
              <a:rPr lang="en-US" sz="1200">
                <a:solidFill>
                  <a:schemeClr val="dk1"/>
                </a:solidFill>
              </a:rPr>
              <a:t>The woman is referring to "my mother's mother," which means her maternal grandmother. Since the man is "the only son" of her maternal grandmother, the man must be the woman's brother.</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Thus, the woman is related to the man as a sister.</a:t>
            </a:r>
            <a:endParaRPr sz="1200">
              <a:solidFill>
                <a:schemeClr val="dk1"/>
              </a:solidFill>
            </a:endParaRPr>
          </a:p>
          <a:p>
            <a:pPr indent="0" lvl="0" marL="0" rtl="0" algn="l">
              <a:lnSpc>
                <a:spcPct val="115000"/>
              </a:lnSpc>
              <a:spcBef>
                <a:spcPts val="0"/>
              </a:spcBef>
              <a:spcAft>
                <a:spcPts val="0"/>
              </a:spcAft>
              <a:buClr>
                <a:schemeClr val="dk1"/>
              </a:buClr>
              <a:buSzPts val="1100"/>
              <a:buNone/>
            </a:pPr>
            <a:r>
              <a:rPr lang="en-US" sz="1200">
                <a:solidFill>
                  <a:schemeClr val="dk1"/>
                </a:solidFill>
              </a:rPr>
              <a:t>The correct answer is C. Sister.</a:t>
            </a:r>
            <a:endParaRPr sz="1200"/>
          </a:p>
          <a:p>
            <a:pPr indent="0" lvl="0" marL="0" rtl="0" algn="l">
              <a:lnSpc>
                <a:spcPct val="115000"/>
              </a:lnSpc>
              <a:spcBef>
                <a:spcPts val="0"/>
              </a:spcBef>
              <a:spcAft>
                <a:spcPts val="0"/>
              </a:spcAft>
              <a:buClr>
                <a:schemeClr val="dk1"/>
              </a:buClr>
              <a:buSzPts val="1100"/>
              <a:buNone/>
            </a:pPr>
            <a:r>
              <a:rPr lang="en-US" sz="1200"/>
              <a:t>Analysis (Describe the failure. What is causing ChatGPT to fail? How this is related to existing reported issues in the literature? There should be a clear and explicit connection to the references you cite on this slide. What potential implications this weakness could have?): </a:t>
            </a:r>
            <a:endParaRPr sz="1200"/>
          </a:p>
          <a:p>
            <a:pPr indent="-304800" lvl="0" marL="457200" rtl="0" algn="l">
              <a:lnSpc>
                <a:spcPct val="90000"/>
              </a:lnSpc>
              <a:spcBef>
                <a:spcPts val="1000"/>
              </a:spcBef>
              <a:spcAft>
                <a:spcPts val="0"/>
              </a:spcAft>
              <a:buSzPts val="1200"/>
              <a:buFont typeface="Calibri"/>
              <a:buAutoNum type="alphaLcPeriod"/>
            </a:pPr>
            <a:r>
              <a:rPr lang="en-US" sz="1200"/>
              <a:t>While ChatGPT answered correctly, it showed poor reasoning transparency, unable to clearly explain its chain of deduction.</a:t>
            </a:r>
            <a:endParaRPr sz="1200"/>
          </a:p>
          <a:p>
            <a:pPr indent="-304800" lvl="0" marL="457200" rtl="0" algn="l">
              <a:lnSpc>
                <a:spcPct val="90000"/>
              </a:lnSpc>
              <a:spcBef>
                <a:spcPts val="0"/>
              </a:spcBef>
              <a:spcAft>
                <a:spcPts val="0"/>
              </a:spcAft>
              <a:buSzPts val="1200"/>
              <a:buFont typeface="Calibri"/>
              <a:buAutoNum type="alphaLcPeriod"/>
            </a:pPr>
            <a:r>
              <a:rPr lang="en-US" sz="1200"/>
              <a:t>Lacks transparent step-by-step logic for complex relationship inference.</a:t>
            </a:r>
            <a:endParaRPr sz="1200"/>
          </a:p>
          <a:p>
            <a:pPr indent="-304800" lvl="0" marL="457200" rtl="0" algn="l">
              <a:spcBef>
                <a:spcPts val="0"/>
              </a:spcBef>
              <a:spcAft>
                <a:spcPts val="0"/>
              </a:spcAft>
              <a:buSzPts val="1200"/>
              <a:buFont typeface="Calibri"/>
              <a:buAutoNum type="alphaLcPeriod"/>
            </a:pPr>
            <a:r>
              <a:rPr lang="en-US" sz="1200"/>
              <a:t>Unable to articulate the reasoning process that led to the correct answer.</a:t>
            </a:r>
            <a:endParaRPr sz="1200"/>
          </a:p>
          <a:p>
            <a:pPr indent="-304800" lvl="0" marL="457200" rtl="0" algn="l">
              <a:spcBef>
                <a:spcPts val="0"/>
              </a:spcBef>
              <a:spcAft>
                <a:spcPts val="0"/>
              </a:spcAft>
              <a:buSzPts val="1200"/>
              <a:buFont typeface="Calibri"/>
              <a:buAutoNum type="alphaLcPeriod"/>
            </a:pPr>
            <a:r>
              <a:rPr lang="en-US" sz="1200"/>
              <a:t>Possible "right answer, wrong reasoning" scenario.</a:t>
            </a:r>
            <a:endParaRPr sz="1200"/>
          </a:p>
          <a:p>
            <a:pPr indent="0" lvl="0" marL="0" rtl="0" algn="l">
              <a:spcBef>
                <a:spcPts val="1000"/>
              </a:spcBef>
              <a:spcAft>
                <a:spcPts val="0"/>
              </a:spcAft>
              <a:buNone/>
            </a:pPr>
            <a:r>
              <a:rPr lang="en-US" sz="1200"/>
              <a:t>Implications:</a:t>
            </a:r>
            <a:endParaRPr sz="1200"/>
          </a:p>
          <a:p>
            <a:pPr indent="-304800" lvl="0" marL="457200" rtl="0" algn="l">
              <a:spcBef>
                <a:spcPts val="1000"/>
              </a:spcBef>
              <a:spcAft>
                <a:spcPts val="0"/>
              </a:spcAft>
              <a:buSzPts val="1200"/>
              <a:buFont typeface="Calibri"/>
              <a:buAutoNum type="alphaLcPeriod"/>
            </a:pPr>
            <a:r>
              <a:rPr lang="en-US" sz="1200"/>
              <a:t>Creates trust deficits in high-stakes domains requiring explanation</a:t>
            </a:r>
            <a:endParaRPr sz="1200"/>
          </a:p>
          <a:p>
            <a:pPr indent="-304800" lvl="0" marL="457200" rtl="0" algn="l">
              <a:spcBef>
                <a:spcPts val="0"/>
              </a:spcBef>
              <a:spcAft>
                <a:spcPts val="0"/>
              </a:spcAft>
              <a:buSzPts val="1200"/>
              <a:buFont typeface="Calibri"/>
              <a:buAutoNum type="alphaLcPeriod"/>
            </a:pPr>
            <a:r>
              <a:rPr lang="en-US" sz="1200"/>
              <a:t>Problematic for educational contexts where showing work matters</a:t>
            </a:r>
            <a:endParaRPr sz="1200"/>
          </a:p>
          <a:p>
            <a:pPr indent="-304800" lvl="0" marL="457200" rtl="0" algn="l">
              <a:spcBef>
                <a:spcPts val="0"/>
              </a:spcBef>
              <a:spcAft>
                <a:spcPts val="0"/>
              </a:spcAft>
              <a:buSzPts val="1200"/>
              <a:buFont typeface="Calibri"/>
              <a:buAutoNum type="alphaLcPeriod"/>
            </a:pPr>
            <a:r>
              <a:rPr lang="en-US" sz="1200"/>
              <a:t>Limited utility for legal or medical applications needing reasoning transparency</a:t>
            </a:r>
            <a:endParaRPr sz="1200"/>
          </a:p>
          <a:p>
            <a:pPr indent="-304800" lvl="0" marL="457200" rtl="0" algn="l">
              <a:spcBef>
                <a:spcPts val="0"/>
              </a:spcBef>
              <a:spcAft>
                <a:spcPts val="0"/>
              </a:spcAft>
              <a:buSzPts val="1200"/>
              <a:buFont typeface="Calibri"/>
              <a:buAutoNum type="alphaLcPeriod"/>
            </a:pPr>
            <a:r>
              <a:rPr lang="en-US" sz="1200"/>
              <a:t>Reduces explainability in any decision-support system</a:t>
            </a:r>
            <a:endParaRPr sz="1200"/>
          </a:p>
          <a:p>
            <a:pPr indent="0" lvl="0" marL="0" rtl="0" algn="l">
              <a:lnSpc>
                <a:spcPct val="90000"/>
              </a:lnSpc>
              <a:spcBef>
                <a:spcPts val="1000"/>
              </a:spcBef>
              <a:spcAft>
                <a:spcPts val="0"/>
              </a:spcAft>
              <a:buClr>
                <a:srgbClr val="000000"/>
              </a:buClr>
              <a:buSzPts val="1200"/>
              <a:buNone/>
            </a:pPr>
            <a:r>
              <a:rPr lang="en-US" sz="1200"/>
              <a:t>References</a:t>
            </a:r>
            <a:r>
              <a:rPr lang="en-US" sz="1200"/>
              <a:t> </a:t>
            </a:r>
            <a:r>
              <a:rPr lang="en-US" sz="1200"/>
              <a:t>[1] </a:t>
            </a:r>
            <a:r>
              <a:rPr b="1" lang="en-US" sz="1200"/>
              <a:t>Srivastava, A., Raffel, C., Zoph, B., Ainslie, J., Shazeer, N., &amp; Liu, P. J. (2022). Beyond the Imitation Game: Quantifying and extrapolating the capabilities of language models. </a:t>
            </a:r>
            <a:r>
              <a:rPr b="1" i="1" lang="en-US" sz="1200"/>
              <a:t>Google BIG-Bench</a:t>
            </a:r>
            <a:r>
              <a:rPr b="1" lang="en-US" sz="1200"/>
              <a:t>, arXiv:2206.04615.</a:t>
            </a:r>
            <a:endParaRPr b="1" sz="1200"/>
          </a:p>
          <a:p>
            <a:pPr indent="0" lvl="0" marL="0" rtl="0" algn="l">
              <a:lnSpc>
                <a:spcPct val="90000"/>
              </a:lnSpc>
              <a:spcBef>
                <a:spcPts val="1000"/>
              </a:spcBef>
              <a:spcAft>
                <a:spcPts val="0"/>
              </a:spcAft>
              <a:buClr>
                <a:srgbClr val="000000"/>
              </a:buClr>
              <a:buSzPts val="1200"/>
              <a:buNone/>
            </a:pPr>
            <a:r>
              <a:rPr lang="en-US" sz="1200"/>
              <a:t>[2] </a:t>
            </a:r>
            <a:r>
              <a:rPr b="1" lang="en-US" sz="1200"/>
              <a:t>Mostafazadeh, N., Roth, M., Louis, A., Chambers, N., &amp; Allen, J. (2016)."LSDSem 2017 Shared Task: The Story Cloze Test."ACL Anthology (CoNLL)</a:t>
            </a:r>
            <a:endParaRPr sz="1200"/>
          </a:p>
        </p:txBody>
      </p:sp>
      <p:grpSp>
        <p:nvGrpSpPr>
          <p:cNvPr id="98" name="Google Shape;98;p16"/>
          <p:cNvGrpSpPr/>
          <p:nvPr/>
        </p:nvGrpSpPr>
        <p:grpSpPr>
          <a:xfrm>
            <a:off x="294495" y="1010019"/>
            <a:ext cx="11603009" cy="1155279"/>
            <a:chOff x="-1" y="-1"/>
            <a:chExt cx="11603008" cy="1155278"/>
          </a:xfrm>
        </p:grpSpPr>
        <p:sp>
          <p:nvSpPr>
            <p:cNvPr id="99" name="Google Shape;99;p16"/>
            <p:cNvSpPr/>
            <p:nvPr/>
          </p:nvSpPr>
          <p:spPr>
            <a:xfrm>
              <a:off x="-1" y="-1"/>
              <a:ext cx="11603008" cy="1155278"/>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90000"/>
                </a:lnSpc>
                <a:spcBef>
                  <a:spcPts val="0"/>
                </a:spcBef>
                <a:spcAft>
                  <a:spcPts val="0"/>
                </a:spcAft>
                <a:buClr>
                  <a:srgbClr val="000000"/>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00" name="Google Shape;100;p16"/>
            <p:cNvSpPr txBox="1"/>
            <p:nvPr/>
          </p:nvSpPr>
          <p:spPr>
            <a:xfrm>
              <a:off x="53657" y="7937"/>
              <a:ext cx="11495692" cy="1139402"/>
            </a:xfrm>
            <a:prstGeom prst="rect">
              <a:avLst/>
            </a:prstGeom>
            <a:noFill/>
            <a:ln>
              <a:noFill/>
            </a:ln>
          </p:spPr>
          <p:txBody>
            <a:bodyPr anchorCtr="0" anchor="t" bIns="45700" lIns="45700" spcFirstLastPara="1" rIns="45700" wrap="square" tIns="45700">
              <a:normAutofit/>
            </a:bodyPr>
            <a:lstStyle/>
            <a:p>
              <a:pPr indent="0" lvl="0" marL="0" marR="0" rtl="0" algn="l">
                <a:lnSpc>
                  <a:spcPct val="90000"/>
                </a:lnSpc>
                <a:spcBef>
                  <a:spcPts val="0"/>
                </a:spcBef>
                <a:spcAft>
                  <a:spcPts val="0"/>
                </a:spcAft>
                <a:buClr>
                  <a:srgbClr val="000000"/>
                </a:buClr>
                <a:buSzPts val="1700"/>
                <a:buFont typeface="Times"/>
                <a:buNone/>
              </a:pPr>
              <a:r>
                <a:rPr i="0" lang="en-US" sz="1700" u="none" cap="none" strike="noStrike">
                  <a:solidFill>
                    <a:srgbClr val="000000"/>
                  </a:solidFill>
                  <a:latin typeface="Calibri"/>
                  <a:ea typeface="Calibri"/>
                  <a:cs typeface="Calibri"/>
                  <a:sym typeface="Calibri"/>
                </a:rPr>
                <a:t>Question: While introducing a man, a woman said, "He is the only son of my mother's mother." How is the woman related to the man ? </a:t>
              </a:r>
              <a:endParaRPr>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700"/>
                <a:buFont typeface="Times"/>
                <a:buNone/>
              </a:pPr>
              <a:r>
                <a:rPr i="0" lang="en-US" sz="1700" u="none" cap="none" strike="noStrike">
                  <a:solidFill>
                    <a:srgbClr val="000000"/>
                  </a:solidFill>
                  <a:latin typeface="Calibri"/>
                  <a:ea typeface="Calibri"/>
                  <a:cs typeface="Calibri"/>
                  <a:sym typeface="Calibri"/>
                </a:rPr>
                <a:t>A. Mother B. Aunt C. Sister D. Niece</a:t>
              </a:r>
              <a:endParaRPr>
                <a:latin typeface="Calibri"/>
                <a:ea typeface="Calibri"/>
                <a:cs typeface="Calibri"/>
                <a:sym typeface="Calibri"/>
              </a:endParaRPr>
            </a:p>
            <a:p>
              <a:pPr indent="0" lvl="0" marL="0" marR="0" rtl="0" algn="l">
                <a:lnSpc>
                  <a:spcPct val="90000"/>
                </a:lnSpc>
                <a:spcBef>
                  <a:spcPts val="500"/>
                </a:spcBef>
                <a:spcAft>
                  <a:spcPts val="0"/>
                </a:spcAft>
                <a:buClr>
                  <a:srgbClr val="000000"/>
                </a:buClr>
                <a:buSzPts val="1700"/>
                <a:buFont typeface="Times"/>
                <a:buNone/>
              </a:pPr>
              <a:r>
                <a:rPr i="0" lang="en-US" sz="1700" u="none" cap="none" strike="noStrike">
                  <a:solidFill>
                    <a:srgbClr val="000000"/>
                  </a:solidFill>
                  <a:latin typeface="Calibri"/>
                  <a:ea typeface="Calibri"/>
                  <a:cs typeface="Calibri"/>
                  <a:sym typeface="Calibri"/>
                </a:rPr>
                <a:t>Correct Answer:D. Niece</a:t>
              </a:r>
              <a:endParaRPr>
                <a:latin typeface="Calibri"/>
                <a:ea typeface="Calibri"/>
                <a:cs typeface="Calibri"/>
                <a:sym typeface="Calibri"/>
              </a:endParaRPr>
            </a:p>
          </p:txBody>
        </p:sp>
      </p:grpSp>
      <p:sp>
        <p:nvSpPr>
          <p:cNvPr id="101" name="Google Shape;101;p16"/>
          <p:cNvSpPr txBox="1"/>
          <p:nvPr/>
        </p:nvSpPr>
        <p:spPr>
          <a:xfrm>
            <a:off x="294494" y="2191648"/>
            <a:ext cx="11603100" cy="461700"/>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Do you agree with the novelty and objectivity scores given to your question by LLMs? Is there an LLM that is most aligned with your own judgement? Which one is the least aligned one?</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lang="en-US" sz="1200">
                <a:latin typeface="Calibri"/>
                <a:ea typeface="Calibri"/>
                <a:cs typeface="Calibri"/>
                <a:sym typeface="Calibri"/>
              </a:rPr>
              <a:t>ans yes for both scores with chatgpt and claude but not with deepseek for novelty as it is least </a:t>
            </a:r>
            <a:r>
              <a:rPr lang="en-US" sz="1200">
                <a:latin typeface="Calibri"/>
                <a:ea typeface="Calibri"/>
                <a:cs typeface="Calibri"/>
                <a:sym typeface="Calibri"/>
              </a:rPr>
              <a:t>aligned</a:t>
            </a:r>
            <a:r>
              <a:rPr lang="en-US" sz="1200">
                <a:latin typeface="Calibri"/>
                <a:ea typeface="Calibri"/>
                <a:cs typeface="Calibri"/>
                <a:sym typeface="Calibri"/>
              </a:rPr>
              <a:t> one.</a:t>
            </a:r>
            <a:endParaRPr sz="1200">
              <a:latin typeface="Calibri"/>
              <a:ea typeface="Calibri"/>
              <a:cs typeface="Calibri"/>
              <a:sym typeface="Calibri"/>
            </a:endParaRPr>
          </a:p>
        </p:txBody>
      </p:sp>
      <p:graphicFrame>
        <p:nvGraphicFramePr>
          <p:cNvPr id="102" name="Google Shape;102;p16"/>
          <p:cNvGraphicFramePr/>
          <p:nvPr/>
        </p:nvGraphicFramePr>
        <p:xfrm>
          <a:off x="8242300" y="12355"/>
          <a:ext cx="3000000" cy="3000000"/>
        </p:xfrm>
        <a:graphic>
          <a:graphicData uri="http://schemas.openxmlformats.org/drawingml/2006/table">
            <a:tbl>
              <a:tblPr firstRow="1">
                <a:noFill/>
                <a:tableStyleId>{583BE41E-CBB9-4F34-AD06-E9149AF3244E}</a:tableStyleId>
              </a:tblPr>
              <a:tblGrid>
                <a:gridCol w="1420675"/>
                <a:gridCol w="661950"/>
                <a:gridCol w="979500"/>
                <a:gridCol w="887575"/>
              </a:tblGrid>
              <a:tr h="203200">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 </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ChatGPT</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Claude Sonnet</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Deepseek R1</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200">
                <a:tc>
                  <a:txBody>
                    <a:bodyPr/>
                    <a:lstStyle/>
                    <a:p>
                      <a:pPr indent="0" lvl="0" marL="0" marR="0" rtl="0" algn="ctr">
                        <a:lnSpc>
                          <a:spcPct val="100000"/>
                        </a:lnSpc>
                        <a:spcBef>
                          <a:spcPts val="0"/>
                        </a:spcBef>
                        <a:spcAft>
                          <a:spcPts val="0"/>
                        </a:spcAft>
                        <a:buClr>
                          <a:schemeClr val="dk1"/>
                        </a:buClr>
                        <a:buSzPts val="1200"/>
                        <a:buFont typeface="Helvetica Neue"/>
                        <a:buNone/>
                      </a:pPr>
                      <a:r>
                        <a:rPr lang="en-US" sz="1200" u="none" cap="none" strike="noStrike"/>
                        <a:t>Objectivity Score Average of 3 attempts</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0.5</a:t>
                      </a:r>
                      <a:r>
                        <a:rPr lang="en-US" sz="1200" u="none" cap="none" strike="noStrike"/>
                        <a:t>  </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0.5</a:t>
                      </a:r>
                      <a:r>
                        <a:rPr lang="en-US" sz="1200" u="none" cap="none" strike="noStrike"/>
                        <a:t>  </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0.5</a:t>
                      </a:r>
                      <a:r>
                        <a:rPr lang="en-US" sz="1200" u="none" cap="none" strike="noStrike"/>
                        <a:t>  </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5925">
                <a:tc>
                  <a:txBody>
                    <a:bodyPr/>
                    <a:lstStyle/>
                    <a:p>
                      <a:pPr indent="0" lvl="0" marL="0" marR="0" rtl="0" algn="ctr">
                        <a:lnSpc>
                          <a:spcPct val="100000"/>
                        </a:lnSpc>
                        <a:spcBef>
                          <a:spcPts val="0"/>
                        </a:spcBef>
                        <a:spcAft>
                          <a:spcPts val="0"/>
                        </a:spcAft>
                        <a:buClr>
                          <a:schemeClr val="dk1"/>
                        </a:buClr>
                        <a:buSzPts val="1200"/>
                        <a:buFont typeface="Helvetica Neue"/>
                        <a:buNone/>
                      </a:pPr>
                      <a:r>
                        <a:rPr lang="en-US" sz="1200" u="none" cap="none" strike="noStrike"/>
                        <a:t>Novelty Score Average of 3 attempts</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700"/>
                        <a:buFont typeface="Helvetica Neue"/>
                        <a:buNone/>
                      </a:pPr>
                      <a:r>
                        <a:rPr lang="en-US" sz="2700" u="none" cap="none" strike="noStrike"/>
                        <a:t>0.25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700"/>
                        <a:buFont typeface="Helvetica Neue"/>
                        <a:buNone/>
                      </a:pPr>
                      <a:r>
                        <a:rPr lang="en-US" sz="2700" u="none" cap="none" strike="noStrike"/>
                        <a:t>0.25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700"/>
                        <a:buFont typeface="Helvetica Neue"/>
                        <a:buNone/>
                      </a:pPr>
                      <a:r>
                        <a:rPr lang="en-US" sz="2700" u="none" cap="none" strike="noStrike"/>
                        <a:t>0.17</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type="title"/>
          </p:nvPr>
        </p:nvSpPr>
        <p:spPr>
          <a:xfrm>
            <a:off x="294497" y="312841"/>
            <a:ext cx="10515601" cy="69718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Calibri"/>
              <a:buNone/>
            </a:pPr>
            <a:r>
              <a:rPr b="0" i="0" lang="en-US" sz="4400" u="none" cap="none" strike="noStrike">
                <a:solidFill>
                  <a:srgbClr val="000000"/>
                </a:solidFill>
                <a:latin typeface="Calibri"/>
                <a:ea typeface="Calibri"/>
                <a:cs typeface="Calibri"/>
                <a:sym typeface="Calibri"/>
              </a:rPr>
              <a:t>Analysis of ChatGPT failure for Q5</a:t>
            </a:r>
            <a:endParaRPr/>
          </a:p>
        </p:txBody>
      </p:sp>
      <p:sp>
        <p:nvSpPr>
          <p:cNvPr id="108" name="Google Shape;108;p17"/>
          <p:cNvSpPr txBox="1"/>
          <p:nvPr>
            <p:ph idx="1" type="body"/>
          </p:nvPr>
        </p:nvSpPr>
        <p:spPr>
          <a:xfrm>
            <a:off x="294497" y="2679662"/>
            <a:ext cx="11603003" cy="4083705"/>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rtl="0" algn="l">
              <a:lnSpc>
                <a:spcPct val="90000"/>
              </a:lnSpc>
              <a:spcBef>
                <a:spcPts val="0"/>
              </a:spcBef>
              <a:spcAft>
                <a:spcPts val="0"/>
              </a:spcAft>
              <a:buClr>
                <a:srgbClr val="000000"/>
              </a:buClr>
              <a:buSzPts val="1200"/>
              <a:buNone/>
            </a:pPr>
            <a:r>
              <a:rPr lang="en-US" sz="1200"/>
              <a:t>ChatGPT’s Answer : </a:t>
            </a:r>
            <a:r>
              <a:rPr lang="en-US" sz="1200">
                <a:solidFill>
                  <a:schemeClr val="dk1"/>
                </a:solidFill>
              </a:rPr>
              <a:t>it sounds like Milley is applying for a management position at a food chain company, so her introduction would likely be focused on her educational background and experience relevant to the food industry. The most appropriate continuation would be: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c. Le Cordon Bleu Culinary School of Cooking</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This choice aligns with her interest in cooking and shows relevant training for a food-related role.</a:t>
            </a:r>
            <a:endParaRPr sz="1200">
              <a:solidFill>
                <a:schemeClr val="dk1"/>
              </a:solidFill>
            </a:endParaRPr>
          </a:p>
          <a:p>
            <a:pPr indent="0" lvl="0" marL="0" rtl="0" algn="l">
              <a:lnSpc>
                <a:spcPct val="90000"/>
              </a:lnSpc>
              <a:spcBef>
                <a:spcPts val="1000"/>
              </a:spcBef>
              <a:spcAft>
                <a:spcPts val="0"/>
              </a:spcAft>
              <a:buClr>
                <a:srgbClr val="000000"/>
              </a:buClr>
              <a:buSzPts val="1200"/>
              <a:buNone/>
            </a:pPr>
            <a:r>
              <a:t/>
            </a:r>
            <a:endParaRPr sz="1200"/>
          </a:p>
          <a:p>
            <a:pPr indent="0" lvl="0" marL="0" rtl="0" algn="l">
              <a:lnSpc>
                <a:spcPct val="90000"/>
              </a:lnSpc>
              <a:spcBef>
                <a:spcPts val="1000"/>
              </a:spcBef>
              <a:spcAft>
                <a:spcPts val="0"/>
              </a:spcAft>
              <a:buClr>
                <a:srgbClr val="000000"/>
              </a:buClr>
              <a:buSzPts val="1200"/>
              <a:buNone/>
            </a:pPr>
            <a:r>
              <a:rPr lang="en-US" sz="1200"/>
              <a:t>Analysis (Describe the failure. What is causing ChatGPT to fail? How this is related to existing reported issues in the literature? There should be a clear and explicit connection to the references you cite on this slide. What potential implications this weakness could have?): </a:t>
            </a:r>
            <a:endParaRPr sz="1200"/>
          </a:p>
          <a:p>
            <a:pPr indent="-304800" lvl="0" marL="457200" rtl="0" algn="l">
              <a:lnSpc>
                <a:spcPct val="90000"/>
              </a:lnSpc>
              <a:spcBef>
                <a:spcPts val="1000"/>
              </a:spcBef>
              <a:spcAft>
                <a:spcPts val="0"/>
              </a:spcAft>
              <a:buSzPts val="1200"/>
              <a:buFont typeface="Calibri"/>
              <a:buAutoNum type="alphaLcPeriod"/>
            </a:pPr>
            <a:r>
              <a:rPr lang="en-US" sz="1200"/>
              <a:t>ChatGPT incorrectly selected "Le Cordon Bleu" without considering the broader context of a management role.</a:t>
            </a:r>
            <a:endParaRPr sz="1200"/>
          </a:p>
          <a:p>
            <a:pPr indent="-304800" lvl="0" marL="457200" rtl="0" algn="l">
              <a:lnSpc>
                <a:spcPct val="90000"/>
              </a:lnSpc>
              <a:spcBef>
                <a:spcPts val="0"/>
              </a:spcBef>
              <a:spcAft>
                <a:spcPts val="0"/>
              </a:spcAft>
              <a:buSzPts val="1200"/>
              <a:buFont typeface="Calibri"/>
              <a:buAutoNum type="alphaLcPeriod"/>
            </a:pPr>
            <a:r>
              <a:rPr lang="en-US" sz="1200"/>
              <a:t>Surface-level processing focused on isolated keywords ("cooking")</a:t>
            </a:r>
            <a:endParaRPr sz="1200"/>
          </a:p>
          <a:p>
            <a:pPr indent="-304800" lvl="0" marL="457200" rtl="0" algn="l">
              <a:lnSpc>
                <a:spcPct val="90000"/>
              </a:lnSpc>
              <a:spcBef>
                <a:spcPts val="0"/>
              </a:spcBef>
              <a:spcAft>
                <a:spcPts val="0"/>
              </a:spcAft>
              <a:buSzPts val="1200"/>
              <a:buFont typeface="Calibri"/>
              <a:buAutoNum type="alphaLcPeriod"/>
            </a:pPr>
            <a:r>
              <a:rPr lang="en-US" sz="1200"/>
              <a:t>Ignores broader narrative context of professional development</a:t>
            </a:r>
            <a:endParaRPr sz="1200"/>
          </a:p>
          <a:p>
            <a:pPr indent="-304800" lvl="0" marL="457200" rtl="0" algn="l">
              <a:lnSpc>
                <a:spcPct val="90000"/>
              </a:lnSpc>
              <a:spcBef>
                <a:spcPts val="0"/>
              </a:spcBef>
              <a:spcAft>
                <a:spcPts val="0"/>
              </a:spcAft>
              <a:buSzPts val="1200"/>
              <a:buFont typeface="Calibri"/>
              <a:buAutoNum type="alphaLcPeriod"/>
            </a:pPr>
            <a:r>
              <a:rPr lang="en-US" sz="1200"/>
              <a:t>Fails to integrate multiple contextual elements for coherent decision</a:t>
            </a:r>
            <a:endParaRPr sz="1200"/>
          </a:p>
          <a:p>
            <a:pPr indent="0" lvl="0" marL="0" rtl="0" algn="l">
              <a:lnSpc>
                <a:spcPct val="90000"/>
              </a:lnSpc>
              <a:spcBef>
                <a:spcPts val="1000"/>
              </a:spcBef>
              <a:spcAft>
                <a:spcPts val="0"/>
              </a:spcAft>
              <a:buNone/>
            </a:pPr>
            <a:r>
              <a:rPr lang="en-US" sz="1200"/>
              <a:t>Implications:</a:t>
            </a:r>
            <a:endParaRPr sz="1200"/>
          </a:p>
          <a:p>
            <a:pPr indent="-304800" lvl="0" marL="457200" rtl="0" algn="l">
              <a:lnSpc>
                <a:spcPct val="90000"/>
              </a:lnSpc>
              <a:spcBef>
                <a:spcPts val="1000"/>
              </a:spcBef>
              <a:spcAft>
                <a:spcPts val="0"/>
              </a:spcAft>
              <a:buSzPts val="1200"/>
              <a:buFont typeface="Calibri"/>
              <a:buAutoNum type="alphaLcPeriod"/>
            </a:pPr>
            <a:r>
              <a:rPr lang="en-US" sz="1200"/>
              <a:t>Misleading career or educational recommendations</a:t>
            </a:r>
            <a:endParaRPr sz="1200"/>
          </a:p>
          <a:p>
            <a:pPr indent="-304800" lvl="0" marL="457200" rtl="0" algn="l">
              <a:lnSpc>
                <a:spcPct val="90000"/>
              </a:lnSpc>
              <a:spcBef>
                <a:spcPts val="0"/>
              </a:spcBef>
              <a:spcAft>
                <a:spcPts val="0"/>
              </a:spcAft>
              <a:buSzPts val="1200"/>
              <a:buFont typeface="Calibri"/>
              <a:buAutoNum type="alphaLcPeriod"/>
            </a:pPr>
            <a:r>
              <a:rPr lang="en-US" sz="1200"/>
              <a:t>Poor performance in content recommendation systems</a:t>
            </a:r>
            <a:endParaRPr sz="1200"/>
          </a:p>
          <a:p>
            <a:pPr indent="0" lvl="0" marL="0" rtl="0" algn="l">
              <a:lnSpc>
                <a:spcPct val="90000"/>
              </a:lnSpc>
              <a:spcBef>
                <a:spcPts val="1000"/>
              </a:spcBef>
              <a:spcAft>
                <a:spcPts val="0"/>
              </a:spcAft>
              <a:buClr>
                <a:srgbClr val="000000"/>
              </a:buClr>
              <a:buSzPts val="1200"/>
              <a:buNone/>
            </a:pPr>
            <a:r>
              <a:t/>
            </a:r>
            <a:endParaRPr sz="1200"/>
          </a:p>
          <a:p>
            <a:pPr indent="0" lvl="0" marL="0" rtl="0" algn="l">
              <a:lnSpc>
                <a:spcPct val="90000"/>
              </a:lnSpc>
              <a:spcBef>
                <a:spcPts val="1000"/>
              </a:spcBef>
              <a:spcAft>
                <a:spcPts val="0"/>
              </a:spcAft>
              <a:buClr>
                <a:srgbClr val="000000"/>
              </a:buClr>
              <a:buSzPts val="1200"/>
              <a:buNone/>
            </a:pPr>
            <a:r>
              <a:rPr lang="en-US" sz="1200"/>
              <a:t>References [1] </a:t>
            </a:r>
            <a:r>
              <a:rPr b="1" lang="en-US" sz="1200"/>
              <a:t>Zellers, R., Holtzman, A., Bisk, Y., Farhadi, A., &amp; Choi, Y. (2019). HellaSwag: Can a Machine Really Finish Your Sentence? </a:t>
            </a:r>
            <a:r>
              <a:rPr b="1" i="1" lang="en-US" sz="1200"/>
              <a:t>arXiv:1905.07830</a:t>
            </a:r>
            <a:endParaRPr b="1" sz="1200"/>
          </a:p>
          <a:p>
            <a:pPr indent="0" lvl="0" marL="0" rtl="0" algn="l">
              <a:lnSpc>
                <a:spcPct val="90000"/>
              </a:lnSpc>
              <a:spcBef>
                <a:spcPts val="1000"/>
              </a:spcBef>
              <a:spcAft>
                <a:spcPts val="0"/>
              </a:spcAft>
              <a:buClr>
                <a:srgbClr val="000000"/>
              </a:buClr>
              <a:buSzPts val="1200"/>
              <a:buNone/>
            </a:pPr>
            <a:r>
              <a:rPr lang="en-US" sz="1200"/>
              <a:t>[2] </a:t>
            </a:r>
            <a:r>
              <a:rPr b="1" lang="en-US" sz="1200"/>
              <a:t>Zhang, S., Roller, S., Goyal, N., Artetxe, M., Chen, M., Fan, A., ... &amp; Weston, J. (2022)."OPT: Open Pre-trained Transformer Language Models."arXiv:2205.01068</a:t>
            </a:r>
            <a:endParaRPr sz="1200"/>
          </a:p>
        </p:txBody>
      </p:sp>
      <p:grpSp>
        <p:nvGrpSpPr>
          <p:cNvPr id="109" name="Google Shape;109;p17"/>
          <p:cNvGrpSpPr/>
          <p:nvPr/>
        </p:nvGrpSpPr>
        <p:grpSpPr>
          <a:xfrm>
            <a:off x="294495" y="1010019"/>
            <a:ext cx="11603009" cy="1155279"/>
            <a:chOff x="-1" y="-1"/>
            <a:chExt cx="11603008" cy="1155278"/>
          </a:xfrm>
        </p:grpSpPr>
        <p:sp>
          <p:nvSpPr>
            <p:cNvPr id="110" name="Google Shape;110;p17"/>
            <p:cNvSpPr/>
            <p:nvPr/>
          </p:nvSpPr>
          <p:spPr>
            <a:xfrm>
              <a:off x="-1" y="-1"/>
              <a:ext cx="11603008" cy="1155278"/>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90000"/>
                </a:lnSpc>
                <a:spcBef>
                  <a:spcPts val="0"/>
                </a:spcBef>
                <a:spcAft>
                  <a:spcPts val="0"/>
                </a:spcAft>
                <a:buClr>
                  <a:srgbClr val="000000"/>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11" name="Google Shape;111;p17"/>
            <p:cNvSpPr txBox="1"/>
            <p:nvPr/>
          </p:nvSpPr>
          <p:spPr>
            <a:xfrm>
              <a:off x="53657" y="7937"/>
              <a:ext cx="11495692" cy="1139402"/>
            </a:xfrm>
            <a:prstGeom prst="rect">
              <a:avLst/>
            </a:prstGeom>
            <a:noFill/>
            <a:ln>
              <a:noFill/>
            </a:ln>
          </p:spPr>
          <p:txBody>
            <a:bodyPr anchorCtr="0" anchor="t" bIns="45700" lIns="45700" spcFirstLastPara="1" rIns="45700" wrap="square" tIns="45700">
              <a:normAutofit/>
            </a:bodyPr>
            <a:lstStyle/>
            <a:p>
              <a:pPr indent="0" lvl="0" marL="0" marR="0" rtl="0" algn="l">
                <a:lnSpc>
                  <a:spcPct val="90000"/>
                </a:lnSpc>
                <a:spcBef>
                  <a:spcPts val="0"/>
                </a:spcBef>
                <a:spcAft>
                  <a:spcPts val="0"/>
                </a:spcAft>
                <a:buClr>
                  <a:srgbClr val="000000"/>
                </a:buClr>
                <a:buSzPts val="1431"/>
                <a:buFont typeface="Times"/>
                <a:buNone/>
              </a:pPr>
              <a:r>
                <a:rPr i="0" lang="en-US" sz="1431" u="none" cap="none" strike="noStrike">
                  <a:solidFill>
                    <a:srgbClr val="000000"/>
                  </a:solidFill>
                  <a:latin typeface="Calibri"/>
                  <a:ea typeface="Calibri"/>
                  <a:cs typeface="Calibri"/>
                  <a:sym typeface="Calibri"/>
                </a:rPr>
                <a:t>Question: Milley is in a job interview for a management position at a food chain company after graduating. The HR asked her to introduce herself. She said: 'My name is Milley. I have enjoyed cooking since childhood, and I was also good at my studies from an early age. I studied at...' complete the sentence                            </a:t>
              </a:r>
              <a:r>
                <a:rPr lang="en-US" sz="1431">
                  <a:latin typeface="Calibri"/>
                  <a:ea typeface="Calibri"/>
                  <a:cs typeface="Calibri"/>
                  <a:sym typeface="Calibri"/>
                </a:rPr>
                <a:t>   a. </a:t>
              </a:r>
              <a:r>
                <a:rPr i="0" lang="en-US" sz="1431" u="none" cap="none" strike="noStrike">
                  <a:solidFill>
                    <a:srgbClr val="000000"/>
                  </a:solidFill>
                  <a:latin typeface="Calibri"/>
                  <a:ea typeface="Calibri"/>
                  <a:cs typeface="Calibri"/>
                  <a:sym typeface="Calibri"/>
                </a:rPr>
                <a:t>Little Learners   b. St. Joseph's School   c. Le Cordon Bleu Culinary School of Cooking   d. Monash University</a:t>
              </a:r>
              <a:endParaRPr>
                <a:latin typeface="Calibri"/>
                <a:ea typeface="Calibri"/>
                <a:cs typeface="Calibri"/>
                <a:sym typeface="Calibri"/>
              </a:endParaRPr>
            </a:p>
            <a:p>
              <a:pPr indent="0" lvl="0" marL="0" marR="0" rtl="0" algn="l">
                <a:lnSpc>
                  <a:spcPct val="90000"/>
                </a:lnSpc>
                <a:spcBef>
                  <a:spcPts val="200"/>
                </a:spcBef>
                <a:spcAft>
                  <a:spcPts val="0"/>
                </a:spcAft>
                <a:buClr>
                  <a:srgbClr val="000000"/>
                </a:buClr>
                <a:buSzPts val="1431"/>
                <a:buFont typeface="Times"/>
                <a:buNone/>
              </a:pPr>
              <a:r>
                <a:rPr i="0" lang="en-US" sz="1431" u="none" cap="none" strike="noStrike">
                  <a:solidFill>
                    <a:srgbClr val="000000"/>
                  </a:solidFill>
                  <a:latin typeface="Calibri"/>
                  <a:ea typeface="Calibri"/>
                  <a:cs typeface="Calibri"/>
                  <a:sym typeface="Calibri"/>
                </a:rPr>
                <a:t>Correct Answer:d. Monash University</a:t>
              </a:r>
              <a:endParaRPr>
                <a:latin typeface="Calibri"/>
                <a:ea typeface="Calibri"/>
                <a:cs typeface="Calibri"/>
                <a:sym typeface="Calibri"/>
              </a:endParaRPr>
            </a:p>
            <a:p>
              <a:pPr indent="0" lvl="0" marL="0" marR="0" rtl="0" algn="l">
                <a:lnSpc>
                  <a:spcPct val="90000"/>
                </a:lnSpc>
                <a:spcBef>
                  <a:spcPts val="200"/>
                </a:spcBef>
                <a:spcAft>
                  <a:spcPts val="0"/>
                </a:spcAft>
                <a:buClr>
                  <a:srgbClr val="000000"/>
                </a:buClr>
                <a:buSzPts val="530"/>
                <a:buFont typeface="Times"/>
                <a:buNone/>
              </a:pPr>
              <a:r>
                <a:rPr i="0" lang="en-US" sz="530" u="none" cap="none" strike="noStrike">
                  <a:solidFill>
                    <a:srgbClr val="000000"/>
                  </a:solidFill>
                  <a:latin typeface="Calibri"/>
                  <a:ea typeface="Calibri"/>
                  <a:cs typeface="Calibri"/>
                  <a:sym typeface="Calibri"/>
                </a:rPr>
                <a:t> </a:t>
              </a:r>
              <a:endParaRPr>
                <a:latin typeface="Calibri"/>
                <a:ea typeface="Calibri"/>
                <a:cs typeface="Calibri"/>
                <a:sym typeface="Calibri"/>
              </a:endParaRPr>
            </a:p>
          </p:txBody>
        </p:sp>
      </p:grpSp>
      <p:sp>
        <p:nvSpPr>
          <p:cNvPr id="112" name="Google Shape;112;p17"/>
          <p:cNvSpPr txBox="1"/>
          <p:nvPr/>
        </p:nvSpPr>
        <p:spPr>
          <a:xfrm>
            <a:off x="294494" y="2191648"/>
            <a:ext cx="11603100" cy="461700"/>
          </a:xfrm>
          <a:prstGeom prst="rect">
            <a:avLst/>
          </a:prstGeom>
          <a:noFill/>
          <a:ln cap="flat" cmpd="sng" w="1587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Do you agree with the novelty and objectivity scores given to your question by LLMs? Is there an LLM that is most aligned with your own judgement? Which one is the least aligned one?</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lang="en-US" sz="1200">
                <a:latin typeface="Calibri"/>
                <a:ea typeface="Calibri"/>
                <a:cs typeface="Calibri"/>
                <a:sym typeface="Calibri"/>
              </a:rPr>
              <a:t>ans- no i don’t agree with any LLMs. Claude i would say is most </a:t>
            </a:r>
            <a:r>
              <a:rPr lang="en-US" sz="1200">
                <a:latin typeface="Calibri"/>
                <a:ea typeface="Calibri"/>
                <a:cs typeface="Calibri"/>
                <a:sym typeface="Calibri"/>
              </a:rPr>
              <a:t>aligned</a:t>
            </a:r>
            <a:r>
              <a:rPr lang="en-US" sz="1200">
                <a:latin typeface="Calibri"/>
                <a:ea typeface="Calibri"/>
                <a:cs typeface="Calibri"/>
                <a:sym typeface="Calibri"/>
              </a:rPr>
              <a:t> in this in novelty scores where as deepseek is the least </a:t>
            </a:r>
            <a:r>
              <a:rPr lang="en-US" sz="1200">
                <a:latin typeface="Calibri"/>
                <a:ea typeface="Calibri"/>
                <a:cs typeface="Calibri"/>
                <a:sym typeface="Calibri"/>
              </a:rPr>
              <a:t>aligned</a:t>
            </a:r>
            <a:r>
              <a:rPr lang="en-US" sz="1200">
                <a:latin typeface="Calibri"/>
                <a:ea typeface="Calibri"/>
                <a:cs typeface="Calibri"/>
                <a:sym typeface="Calibri"/>
              </a:rPr>
              <a:t> with my judgment.</a:t>
            </a:r>
            <a:endParaRPr sz="1200">
              <a:latin typeface="Calibri"/>
              <a:ea typeface="Calibri"/>
              <a:cs typeface="Calibri"/>
              <a:sym typeface="Calibri"/>
            </a:endParaRPr>
          </a:p>
        </p:txBody>
      </p:sp>
      <p:graphicFrame>
        <p:nvGraphicFramePr>
          <p:cNvPr id="113" name="Google Shape;113;p17"/>
          <p:cNvGraphicFramePr/>
          <p:nvPr/>
        </p:nvGraphicFramePr>
        <p:xfrm>
          <a:off x="8242300" y="12355"/>
          <a:ext cx="3000000" cy="3000000"/>
        </p:xfrm>
        <a:graphic>
          <a:graphicData uri="http://schemas.openxmlformats.org/drawingml/2006/table">
            <a:tbl>
              <a:tblPr firstRow="1">
                <a:noFill/>
                <a:tableStyleId>{583BE41E-CBB9-4F34-AD06-E9149AF3244E}</a:tableStyleId>
              </a:tblPr>
              <a:tblGrid>
                <a:gridCol w="1420675"/>
                <a:gridCol w="661950"/>
                <a:gridCol w="979500"/>
                <a:gridCol w="887575"/>
              </a:tblGrid>
              <a:tr h="203200">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 </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ChatGPT</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Claude Sonnet</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Helvetica Neue"/>
                        <a:buNone/>
                      </a:pPr>
                      <a:r>
                        <a:rPr lang="en-US" sz="1200" u="none" cap="none" strike="noStrike"/>
                        <a:t>Deepseek R1</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200">
                <a:tc>
                  <a:txBody>
                    <a:bodyPr/>
                    <a:lstStyle/>
                    <a:p>
                      <a:pPr indent="0" lvl="0" marL="0" marR="0" rtl="0" algn="ctr">
                        <a:lnSpc>
                          <a:spcPct val="100000"/>
                        </a:lnSpc>
                        <a:spcBef>
                          <a:spcPts val="0"/>
                        </a:spcBef>
                        <a:spcAft>
                          <a:spcPts val="0"/>
                        </a:spcAft>
                        <a:buClr>
                          <a:schemeClr val="dk1"/>
                        </a:buClr>
                        <a:buSzPts val="1200"/>
                        <a:buFont typeface="Helvetica Neue"/>
                        <a:buNone/>
                      </a:pPr>
                      <a:r>
                        <a:rPr lang="en-US" sz="1200" u="none" cap="none" strike="noStrike"/>
                        <a:t>Objectivity Score Average of 3 attempts</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0.42</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700"/>
                        <a:buFont typeface="Helvetica Neue"/>
                        <a:buNone/>
                      </a:pPr>
                      <a:r>
                        <a:rPr lang="en-US" sz="2700" u="none" cap="none" strike="noStrike"/>
                        <a:t>0.25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700"/>
                        <a:buFont typeface="Helvetica Neue"/>
                        <a:buNone/>
                      </a:pPr>
                      <a:r>
                        <a:rPr lang="en-US" sz="2700" u="none" cap="none" strike="noStrike"/>
                        <a:t>0.25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5925">
                <a:tc>
                  <a:txBody>
                    <a:bodyPr/>
                    <a:lstStyle/>
                    <a:p>
                      <a:pPr indent="0" lvl="0" marL="0" marR="0" rtl="0" algn="ctr">
                        <a:lnSpc>
                          <a:spcPct val="100000"/>
                        </a:lnSpc>
                        <a:spcBef>
                          <a:spcPts val="0"/>
                        </a:spcBef>
                        <a:spcAft>
                          <a:spcPts val="0"/>
                        </a:spcAft>
                        <a:buClr>
                          <a:schemeClr val="dk1"/>
                        </a:buClr>
                        <a:buSzPts val="1200"/>
                        <a:buFont typeface="Helvetica Neue"/>
                        <a:buNone/>
                      </a:pPr>
                      <a:r>
                        <a:rPr lang="en-US" sz="1200" u="none" cap="none" strike="noStrike"/>
                        <a:t>Novelty Score Average of 3 attempts</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700"/>
                        <a:buFont typeface="Helvetica Neue"/>
                        <a:buNone/>
                      </a:pPr>
                      <a:r>
                        <a:rPr lang="en-US" sz="2700" u="none" cap="none" strike="noStrike"/>
                        <a:t>0.25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600"/>
                        <a:buFont typeface="Helvetica Neue"/>
                        <a:buNone/>
                      </a:pPr>
                      <a:r>
                        <a:rPr lang="en-US" sz="2600" u="none" cap="none" strike="noStrike"/>
                        <a:t>0.5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700"/>
                        <a:buFont typeface="Helvetica Neue"/>
                        <a:buNone/>
                      </a:pPr>
                      <a:r>
                        <a:rPr lang="en-US" sz="2700" u="none" cap="none" strike="noStrike"/>
                        <a:t>0.25</a:t>
                      </a:r>
                      <a:endParaRPr/>
                    </a:p>
                  </a:txBody>
                  <a:tcPr marT="9525" marB="9525"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idx="4294967295" type="sldNum"/>
          </p:nvPr>
        </p:nvSpPr>
        <p:spPr>
          <a:xfrm>
            <a:off x="11745623" y="6456652"/>
            <a:ext cx="181381" cy="248303"/>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rPr>
              <a:t>‹#›</a:t>
            </a:fld>
            <a:endParaRPr/>
          </a:p>
        </p:txBody>
      </p:sp>
      <p:sp>
        <p:nvSpPr>
          <p:cNvPr id="119" name="Google Shape;119;p18"/>
          <p:cNvSpPr txBox="1"/>
          <p:nvPr>
            <p:ph type="title"/>
          </p:nvPr>
        </p:nvSpPr>
        <p:spPr>
          <a:xfrm>
            <a:off x="838200" y="312841"/>
            <a:ext cx="10515600" cy="697181"/>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Calibri"/>
              <a:buNone/>
            </a:pPr>
            <a:r>
              <a:rPr b="0" i="0" lang="en-US" sz="4400" u="none" cap="none" strike="noStrike">
                <a:solidFill>
                  <a:srgbClr val="000000"/>
                </a:solidFill>
                <a:latin typeface="Calibri"/>
                <a:ea typeface="Calibri"/>
                <a:cs typeface="Calibri"/>
                <a:sym typeface="Calibri"/>
              </a:rPr>
              <a:t>Comparison Table</a:t>
            </a:r>
            <a:endParaRPr/>
          </a:p>
        </p:txBody>
      </p:sp>
      <p:graphicFrame>
        <p:nvGraphicFramePr>
          <p:cNvPr id="120" name="Google Shape;120;p18"/>
          <p:cNvGraphicFramePr/>
          <p:nvPr/>
        </p:nvGraphicFramePr>
        <p:xfrm>
          <a:off x="1917700" y="2216843"/>
          <a:ext cx="3000000" cy="3000000"/>
        </p:xfrm>
        <a:graphic>
          <a:graphicData uri="http://schemas.openxmlformats.org/drawingml/2006/table">
            <a:tbl>
              <a:tblPr bandRow="1" firstRow="1">
                <a:noFill/>
                <a:tableStyleId>{583BE41E-CBB9-4F34-AD06-E9149AF3244E}</a:tableStyleId>
              </a:tblPr>
              <a:tblGrid>
                <a:gridCol w="2032000"/>
                <a:gridCol w="2032000"/>
                <a:gridCol w="2032000"/>
                <a:gridCol w="2032000"/>
              </a:tblGrid>
              <a:tr h="370850">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c>
                  <a:txBody>
                    <a:bodyPr/>
                    <a:lstStyle/>
                    <a:p>
                      <a:pPr indent="0" lvl="0" marL="0" marR="0" rtl="0" algn="ctr">
                        <a:lnSpc>
                          <a:spcPct val="100000"/>
                        </a:lnSpc>
                        <a:spcBef>
                          <a:spcPts val="0"/>
                        </a:spcBef>
                        <a:spcAft>
                          <a:spcPts val="0"/>
                        </a:spcAft>
                        <a:buClr>
                          <a:srgbClr val="FFFFFF"/>
                        </a:buClr>
                        <a:buSzPts val="1800"/>
                        <a:buFont typeface="Helvetica Neue"/>
                        <a:buNone/>
                      </a:pPr>
                      <a:r>
                        <a:rPr b="1" lang="en-US" sz="1800" u="none" cap="none" strike="noStrike">
                          <a:solidFill>
                            <a:srgbClr val="FFFFFF"/>
                          </a:solidFill>
                        </a:rPr>
                        <a:t>ChatGPT</a:t>
                      </a:r>
                      <a:endParaRPr/>
                    </a:p>
                  </a:txBody>
                  <a:tcPr marT="45725" marB="45725" marR="45725" marL="45725"/>
                </a:tc>
                <a:tc>
                  <a:txBody>
                    <a:bodyPr/>
                    <a:lstStyle/>
                    <a:p>
                      <a:pPr indent="0" lvl="0" marL="0" marR="0" rtl="0" algn="ctr">
                        <a:lnSpc>
                          <a:spcPct val="100000"/>
                        </a:lnSpc>
                        <a:spcBef>
                          <a:spcPts val="0"/>
                        </a:spcBef>
                        <a:spcAft>
                          <a:spcPts val="0"/>
                        </a:spcAft>
                        <a:buClr>
                          <a:srgbClr val="FFFFFF"/>
                        </a:buClr>
                        <a:buSzPts val="1800"/>
                        <a:buFont typeface="Helvetica Neue"/>
                        <a:buNone/>
                      </a:pPr>
                      <a:r>
                        <a:rPr b="1" lang="en-US" sz="1800" u="none" cap="none" strike="noStrike">
                          <a:solidFill>
                            <a:srgbClr val="FFFFFF"/>
                          </a:solidFill>
                        </a:rPr>
                        <a:t>Claude Sonnet</a:t>
                      </a:r>
                      <a:endParaRPr/>
                    </a:p>
                  </a:txBody>
                  <a:tcPr marT="45725" marB="45725" marR="45725" marL="45725"/>
                </a:tc>
                <a:tc>
                  <a:txBody>
                    <a:bodyPr/>
                    <a:lstStyle/>
                    <a:p>
                      <a:pPr indent="0" lvl="0" marL="0" marR="0" rtl="0" algn="ctr">
                        <a:lnSpc>
                          <a:spcPct val="100000"/>
                        </a:lnSpc>
                        <a:spcBef>
                          <a:spcPts val="0"/>
                        </a:spcBef>
                        <a:spcAft>
                          <a:spcPts val="0"/>
                        </a:spcAft>
                        <a:buClr>
                          <a:srgbClr val="FFFFFF"/>
                        </a:buClr>
                        <a:buSzPts val="1800"/>
                        <a:buFont typeface="Helvetica Neue"/>
                        <a:buNone/>
                      </a:pPr>
                      <a:r>
                        <a:rPr b="1" lang="en-US" sz="1800" u="none" cap="none" strike="noStrike">
                          <a:solidFill>
                            <a:srgbClr val="FFFFFF"/>
                          </a:solidFill>
                        </a:rPr>
                        <a:t>Deepseek R1</a:t>
                      </a:r>
                      <a:endParaRPr/>
                    </a:p>
                  </a:txBody>
                  <a:tcPr marT="45725" marB="45725" marR="45725" marL="45725"/>
                </a:tc>
              </a:tr>
              <a:tr h="370850">
                <a:tc>
                  <a:txBody>
                    <a:bodyPr/>
                    <a:lstStyle/>
                    <a:p>
                      <a:pPr indent="0" lvl="0" marL="0" marR="0" rtl="0" algn="l">
                        <a:lnSpc>
                          <a:spcPct val="100000"/>
                        </a:lnSpc>
                        <a:spcBef>
                          <a:spcPts val="0"/>
                        </a:spcBef>
                        <a:spcAft>
                          <a:spcPts val="0"/>
                        </a:spcAft>
                        <a:buClr>
                          <a:schemeClr val="dk1"/>
                        </a:buClr>
                        <a:buSzPts val="1800"/>
                        <a:buFont typeface="Helvetica Neue"/>
                        <a:buNone/>
                      </a:pPr>
                      <a:r>
                        <a:rPr lang="en-US" sz="1800" u="none" cap="none" strike="noStrike"/>
                        <a:t>Q1</a:t>
                      </a:r>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r>
              <a:tr h="370850">
                <a:tc>
                  <a:txBody>
                    <a:bodyPr/>
                    <a:lstStyle/>
                    <a:p>
                      <a:pPr indent="0" lvl="0" marL="0" marR="0" rtl="0" algn="l">
                        <a:lnSpc>
                          <a:spcPct val="100000"/>
                        </a:lnSpc>
                        <a:spcBef>
                          <a:spcPts val="0"/>
                        </a:spcBef>
                        <a:spcAft>
                          <a:spcPts val="0"/>
                        </a:spcAft>
                        <a:buClr>
                          <a:schemeClr val="dk1"/>
                        </a:buClr>
                        <a:buSzPts val="1800"/>
                        <a:buFont typeface="Helvetica Neue"/>
                        <a:buNone/>
                      </a:pPr>
                      <a:r>
                        <a:rPr lang="en-US" sz="1800" u="none" cap="none" strike="noStrike"/>
                        <a:t>Q2</a:t>
                      </a:r>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r>
              <a:tr h="370850">
                <a:tc>
                  <a:txBody>
                    <a:bodyPr/>
                    <a:lstStyle/>
                    <a:p>
                      <a:pPr indent="0" lvl="0" marL="0" marR="0" rtl="0" algn="l">
                        <a:lnSpc>
                          <a:spcPct val="100000"/>
                        </a:lnSpc>
                        <a:spcBef>
                          <a:spcPts val="0"/>
                        </a:spcBef>
                        <a:spcAft>
                          <a:spcPts val="0"/>
                        </a:spcAft>
                        <a:buClr>
                          <a:schemeClr val="dk1"/>
                        </a:buClr>
                        <a:buSzPts val="1800"/>
                        <a:buFont typeface="Helvetica Neue"/>
                        <a:buNone/>
                      </a:pPr>
                      <a:r>
                        <a:rPr lang="en-US" sz="1800" u="none" cap="none" strike="noStrike"/>
                        <a:t>Q3</a:t>
                      </a:r>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r>
              <a:tr h="370850">
                <a:tc>
                  <a:txBody>
                    <a:bodyPr/>
                    <a:lstStyle/>
                    <a:p>
                      <a:pPr indent="0" lvl="0" marL="0" marR="0" rtl="0" algn="l">
                        <a:lnSpc>
                          <a:spcPct val="100000"/>
                        </a:lnSpc>
                        <a:spcBef>
                          <a:spcPts val="0"/>
                        </a:spcBef>
                        <a:spcAft>
                          <a:spcPts val="0"/>
                        </a:spcAft>
                        <a:buClr>
                          <a:schemeClr val="dk1"/>
                        </a:buClr>
                        <a:buSzPts val="1800"/>
                        <a:buFont typeface="Helvetica Neue"/>
                        <a:buNone/>
                      </a:pPr>
                      <a:r>
                        <a:rPr lang="en-US" sz="1800" u="none" cap="none" strike="noStrike"/>
                        <a:t>Q4</a:t>
                      </a:r>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r>
              <a:tr h="370850">
                <a:tc>
                  <a:txBody>
                    <a:bodyPr/>
                    <a:lstStyle/>
                    <a:p>
                      <a:pPr indent="0" lvl="0" marL="0" marR="0" rtl="0" algn="l">
                        <a:lnSpc>
                          <a:spcPct val="100000"/>
                        </a:lnSpc>
                        <a:spcBef>
                          <a:spcPts val="0"/>
                        </a:spcBef>
                        <a:spcAft>
                          <a:spcPts val="0"/>
                        </a:spcAft>
                        <a:buClr>
                          <a:schemeClr val="dk1"/>
                        </a:buClr>
                        <a:buSzPts val="1800"/>
                        <a:buFont typeface="Helvetica Neue"/>
                        <a:buNone/>
                      </a:pPr>
                      <a:r>
                        <a:rPr lang="en-US" sz="1800" u="none" cap="none" strike="noStrike"/>
                        <a:t>Q5</a:t>
                      </a:r>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c>
                  <a:txBody>
                    <a:bodyPr/>
                    <a:lstStyle/>
                    <a:p>
                      <a:pPr indent="457200" lvl="0" marL="0" marR="0" rtl="0" algn="r">
                        <a:lnSpc>
                          <a:spcPct val="100000"/>
                        </a:lnSpc>
                        <a:spcBef>
                          <a:spcPts val="0"/>
                        </a:spcBef>
                        <a:spcAft>
                          <a:spcPts val="0"/>
                        </a:spcAft>
                        <a:buClr>
                          <a:schemeClr val="dk1"/>
                        </a:buClr>
                        <a:buSzPts val="1200"/>
                        <a:buFont typeface="Helvetica Neue"/>
                        <a:buNone/>
                      </a:pPr>
                      <a:r>
                        <a:t/>
                      </a:r>
                      <a:endParaRPr b="0" i="0" sz="1200" u="none" cap="none" strike="noStrike">
                        <a:solidFill>
                          <a:schemeClr val="dk1"/>
                        </a:solidFill>
                        <a:latin typeface="Helvetica Neue"/>
                        <a:ea typeface="Helvetica Neue"/>
                        <a:cs typeface="Helvetica Neue"/>
                        <a:sym typeface="Helvetica Neue"/>
                      </a:endParaRPr>
                    </a:p>
                  </a:txBody>
                  <a:tcPr marT="45725" marB="45725" marR="45725" marL="45725"/>
                </a:tc>
              </a:tr>
            </a:tbl>
          </a:graphicData>
        </a:graphic>
      </p:graphicFrame>
      <p:pic>
        <p:nvPicPr>
          <p:cNvPr descr="Graphic 13" id="121" name="Google Shape;121;p18"/>
          <p:cNvPicPr preferRelativeResize="0"/>
          <p:nvPr/>
        </p:nvPicPr>
        <p:blipFill rotWithShape="1">
          <a:blip r:embed="rId3">
            <a:alphaModFix/>
          </a:blip>
          <a:srcRect b="0" l="0" r="0" t="0"/>
          <a:stretch/>
        </p:blipFill>
        <p:spPr>
          <a:xfrm>
            <a:off x="4802473" y="2587336"/>
            <a:ext cx="353293" cy="353293"/>
          </a:xfrm>
          <a:prstGeom prst="rect">
            <a:avLst/>
          </a:prstGeom>
          <a:noFill/>
          <a:ln>
            <a:noFill/>
          </a:ln>
        </p:spPr>
      </p:pic>
      <p:pic>
        <p:nvPicPr>
          <p:cNvPr descr="Graphic 16" id="122" name="Google Shape;122;p18"/>
          <p:cNvPicPr preferRelativeResize="0"/>
          <p:nvPr/>
        </p:nvPicPr>
        <p:blipFill rotWithShape="1">
          <a:blip r:embed="rId3">
            <a:alphaModFix/>
          </a:blip>
          <a:srcRect b="0" l="0" r="0" t="0"/>
          <a:stretch/>
        </p:blipFill>
        <p:spPr>
          <a:xfrm>
            <a:off x="4802473" y="2961407"/>
            <a:ext cx="353293" cy="353293"/>
          </a:xfrm>
          <a:prstGeom prst="rect">
            <a:avLst/>
          </a:prstGeom>
          <a:noFill/>
          <a:ln>
            <a:noFill/>
          </a:ln>
        </p:spPr>
      </p:pic>
      <p:pic>
        <p:nvPicPr>
          <p:cNvPr descr="Graphic 17" id="123" name="Google Shape;123;p18"/>
          <p:cNvPicPr preferRelativeResize="0"/>
          <p:nvPr/>
        </p:nvPicPr>
        <p:blipFill rotWithShape="1">
          <a:blip r:embed="rId3">
            <a:alphaModFix/>
          </a:blip>
          <a:srcRect b="0" l="0" r="0" t="0"/>
          <a:stretch/>
        </p:blipFill>
        <p:spPr>
          <a:xfrm>
            <a:off x="4802473" y="3345872"/>
            <a:ext cx="353293" cy="353293"/>
          </a:xfrm>
          <a:prstGeom prst="rect">
            <a:avLst/>
          </a:prstGeom>
          <a:noFill/>
          <a:ln>
            <a:noFill/>
          </a:ln>
        </p:spPr>
      </p:pic>
      <p:pic>
        <p:nvPicPr>
          <p:cNvPr descr="Graphic 18" id="124" name="Google Shape;124;p18"/>
          <p:cNvPicPr preferRelativeResize="0"/>
          <p:nvPr/>
        </p:nvPicPr>
        <p:blipFill rotWithShape="1">
          <a:blip r:embed="rId3">
            <a:alphaModFix/>
          </a:blip>
          <a:srcRect b="0" l="0" r="0" t="0"/>
          <a:stretch/>
        </p:blipFill>
        <p:spPr>
          <a:xfrm>
            <a:off x="4802473" y="3700595"/>
            <a:ext cx="353293" cy="353293"/>
          </a:xfrm>
          <a:prstGeom prst="rect">
            <a:avLst/>
          </a:prstGeom>
          <a:noFill/>
          <a:ln>
            <a:noFill/>
          </a:ln>
        </p:spPr>
      </p:pic>
      <p:pic>
        <p:nvPicPr>
          <p:cNvPr descr="Graphic 19" id="125" name="Google Shape;125;p18"/>
          <p:cNvPicPr preferRelativeResize="0"/>
          <p:nvPr/>
        </p:nvPicPr>
        <p:blipFill rotWithShape="1">
          <a:blip r:embed="rId3">
            <a:alphaModFix/>
          </a:blip>
          <a:srcRect b="0" l="0" r="0" t="0"/>
          <a:stretch/>
        </p:blipFill>
        <p:spPr>
          <a:xfrm>
            <a:off x="4802473" y="4086597"/>
            <a:ext cx="353293" cy="353293"/>
          </a:xfrm>
          <a:prstGeom prst="rect">
            <a:avLst/>
          </a:prstGeom>
          <a:noFill/>
          <a:ln>
            <a:noFill/>
          </a:ln>
        </p:spPr>
      </p:pic>
      <p:sp>
        <p:nvSpPr>
          <p:cNvPr id="126" name="Google Shape;126;p18"/>
          <p:cNvSpPr txBox="1"/>
          <p:nvPr/>
        </p:nvSpPr>
        <p:spPr>
          <a:xfrm>
            <a:off x="1204305" y="6028910"/>
            <a:ext cx="10538322" cy="62518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Use         and         to denote if the LLM failed or succeeded at the question.</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You need to put 3 symbols in each cell to indicate the success/failure of 3 attempts per question for each LLM.</a:t>
            </a:r>
            <a:endParaRPr/>
          </a:p>
        </p:txBody>
      </p:sp>
      <p:pic>
        <p:nvPicPr>
          <p:cNvPr descr="Graphic 33" id="127" name="Google Shape;127;p18"/>
          <p:cNvPicPr preferRelativeResize="0"/>
          <p:nvPr/>
        </p:nvPicPr>
        <p:blipFill rotWithShape="1">
          <a:blip r:embed="rId3">
            <a:alphaModFix/>
          </a:blip>
          <a:srcRect b="0" l="0" r="0" t="0"/>
          <a:stretch/>
        </p:blipFill>
        <p:spPr>
          <a:xfrm>
            <a:off x="1647535" y="6024097"/>
            <a:ext cx="353293" cy="353293"/>
          </a:xfrm>
          <a:prstGeom prst="rect">
            <a:avLst/>
          </a:prstGeom>
          <a:noFill/>
          <a:ln>
            <a:noFill/>
          </a:ln>
        </p:spPr>
      </p:pic>
      <p:pic>
        <p:nvPicPr>
          <p:cNvPr descr="Graphic 34" id="128" name="Google Shape;128;p18"/>
          <p:cNvPicPr preferRelativeResize="0"/>
          <p:nvPr/>
        </p:nvPicPr>
        <p:blipFill rotWithShape="1">
          <a:blip r:embed="rId4">
            <a:alphaModFix/>
          </a:blip>
          <a:srcRect b="0" l="0" r="0" t="0"/>
          <a:stretch/>
        </p:blipFill>
        <p:spPr>
          <a:xfrm>
            <a:off x="2456268" y="6034559"/>
            <a:ext cx="353294" cy="353294"/>
          </a:xfrm>
          <a:prstGeom prst="rect">
            <a:avLst/>
          </a:prstGeom>
          <a:noFill/>
          <a:ln>
            <a:noFill/>
          </a:ln>
        </p:spPr>
      </p:pic>
      <p:pic>
        <p:nvPicPr>
          <p:cNvPr descr="Graphic 1" id="129" name="Google Shape;129;p18"/>
          <p:cNvPicPr preferRelativeResize="0"/>
          <p:nvPr/>
        </p:nvPicPr>
        <p:blipFill rotWithShape="1">
          <a:blip r:embed="rId3">
            <a:alphaModFix/>
          </a:blip>
          <a:srcRect b="0" l="0" r="0" t="0"/>
          <a:stretch/>
        </p:blipFill>
        <p:spPr>
          <a:xfrm>
            <a:off x="5155765" y="2594143"/>
            <a:ext cx="353293" cy="353293"/>
          </a:xfrm>
          <a:prstGeom prst="rect">
            <a:avLst/>
          </a:prstGeom>
          <a:noFill/>
          <a:ln>
            <a:noFill/>
          </a:ln>
        </p:spPr>
      </p:pic>
      <p:pic>
        <p:nvPicPr>
          <p:cNvPr descr="Graphic 2" id="130" name="Google Shape;130;p18"/>
          <p:cNvPicPr preferRelativeResize="0"/>
          <p:nvPr/>
        </p:nvPicPr>
        <p:blipFill rotWithShape="1">
          <a:blip r:embed="rId3">
            <a:alphaModFix/>
          </a:blip>
          <a:srcRect b="0" l="0" r="0" t="0"/>
          <a:stretch/>
        </p:blipFill>
        <p:spPr>
          <a:xfrm>
            <a:off x="5155765" y="2968218"/>
            <a:ext cx="353293" cy="353293"/>
          </a:xfrm>
          <a:prstGeom prst="rect">
            <a:avLst/>
          </a:prstGeom>
          <a:noFill/>
          <a:ln>
            <a:noFill/>
          </a:ln>
        </p:spPr>
      </p:pic>
      <p:pic>
        <p:nvPicPr>
          <p:cNvPr descr="Graphic 3" id="131" name="Google Shape;131;p18"/>
          <p:cNvPicPr preferRelativeResize="0"/>
          <p:nvPr/>
        </p:nvPicPr>
        <p:blipFill rotWithShape="1">
          <a:blip r:embed="rId3">
            <a:alphaModFix/>
          </a:blip>
          <a:srcRect b="0" l="0" r="0" t="0"/>
          <a:stretch/>
        </p:blipFill>
        <p:spPr>
          <a:xfrm>
            <a:off x="5155765" y="3352681"/>
            <a:ext cx="353293" cy="353293"/>
          </a:xfrm>
          <a:prstGeom prst="rect">
            <a:avLst/>
          </a:prstGeom>
          <a:noFill/>
          <a:ln>
            <a:noFill/>
          </a:ln>
        </p:spPr>
      </p:pic>
      <p:pic>
        <p:nvPicPr>
          <p:cNvPr descr="Graphic 4" id="132" name="Google Shape;132;p18"/>
          <p:cNvPicPr preferRelativeResize="0"/>
          <p:nvPr/>
        </p:nvPicPr>
        <p:blipFill rotWithShape="1">
          <a:blip r:embed="rId3">
            <a:alphaModFix/>
          </a:blip>
          <a:srcRect b="0" l="0" r="0" t="0"/>
          <a:stretch/>
        </p:blipFill>
        <p:spPr>
          <a:xfrm>
            <a:off x="5155765" y="3707403"/>
            <a:ext cx="353293" cy="353293"/>
          </a:xfrm>
          <a:prstGeom prst="rect">
            <a:avLst/>
          </a:prstGeom>
          <a:noFill/>
          <a:ln>
            <a:noFill/>
          </a:ln>
        </p:spPr>
      </p:pic>
      <p:pic>
        <p:nvPicPr>
          <p:cNvPr descr="Graphic 6" id="133" name="Google Shape;133;p18"/>
          <p:cNvPicPr preferRelativeResize="0"/>
          <p:nvPr/>
        </p:nvPicPr>
        <p:blipFill rotWithShape="1">
          <a:blip r:embed="rId3">
            <a:alphaModFix/>
          </a:blip>
          <a:srcRect b="0" l="0" r="0" t="0"/>
          <a:stretch/>
        </p:blipFill>
        <p:spPr>
          <a:xfrm>
            <a:off x="5155765" y="4093407"/>
            <a:ext cx="353293" cy="353293"/>
          </a:xfrm>
          <a:prstGeom prst="rect">
            <a:avLst/>
          </a:prstGeom>
          <a:noFill/>
          <a:ln>
            <a:noFill/>
          </a:ln>
        </p:spPr>
      </p:pic>
      <p:pic>
        <p:nvPicPr>
          <p:cNvPr descr="Graphic 24" id="134" name="Google Shape;134;p18"/>
          <p:cNvPicPr preferRelativeResize="0"/>
          <p:nvPr/>
        </p:nvPicPr>
        <p:blipFill rotWithShape="1">
          <a:blip r:embed="rId3">
            <a:alphaModFix/>
          </a:blip>
          <a:srcRect b="0" l="0" r="0" t="0"/>
          <a:stretch/>
        </p:blipFill>
        <p:spPr>
          <a:xfrm>
            <a:off x="4439822" y="2594143"/>
            <a:ext cx="353293" cy="353293"/>
          </a:xfrm>
          <a:prstGeom prst="rect">
            <a:avLst/>
          </a:prstGeom>
          <a:noFill/>
          <a:ln>
            <a:noFill/>
          </a:ln>
        </p:spPr>
      </p:pic>
      <p:pic>
        <p:nvPicPr>
          <p:cNvPr descr="Graphic 25" id="135" name="Google Shape;135;p18"/>
          <p:cNvPicPr preferRelativeResize="0"/>
          <p:nvPr/>
        </p:nvPicPr>
        <p:blipFill rotWithShape="1">
          <a:blip r:embed="rId3">
            <a:alphaModFix/>
          </a:blip>
          <a:srcRect b="0" l="0" r="0" t="0"/>
          <a:stretch/>
        </p:blipFill>
        <p:spPr>
          <a:xfrm>
            <a:off x="4439822" y="2968218"/>
            <a:ext cx="353293" cy="353293"/>
          </a:xfrm>
          <a:prstGeom prst="rect">
            <a:avLst/>
          </a:prstGeom>
          <a:noFill/>
          <a:ln>
            <a:noFill/>
          </a:ln>
        </p:spPr>
      </p:pic>
      <p:pic>
        <p:nvPicPr>
          <p:cNvPr descr="Graphic 26" id="136" name="Google Shape;136;p18"/>
          <p:cNvPicPr preferRelativeResize="0"/>
          <p:nvPr/>
        </p:nvPicPr>
        <p:blipFill rotWithShape="1">
          <a:blip r:embed="rId3">
            <a:alphaModFix/>
          </a:blip>
          <a:srcRect b="0" l="0" r="0" t="0"/>
          <a:stretch/>
        </p:blipFill>
        <p:spPr>
          <a:xfrm>
            <a:off x="4439822" y="3352681"/>
            <a:ext cx="353293" cy="353293"/>
          </a:xfrm>
          <a:prstGeom prst="rect">
            <a:avLst/>
          </a:prstGeom>
          <a:noFill/>
          <a:ln>
            <a:noFill/>
          </a:ln>
        </p:spPr>
      </p:pic>
      <p:pic>
        <p:nvPicPr>
          <p:cNvPr descr="Graphic 27" id="137" name="Google Shape;137;p18"/>
          <p:cNvPicPr preferRelativeResize="0"/>
          <p:nvPr/>
        </p:nvPicPr>
        <p:blipFill rotWithShape="1">
          <a:blip r:embed="rId3">
            <a:alphaModFix/>
          </a:blip>
          <a:srcRect b="0" l="0" r="0" t="0"/>
          <a:stretch/>
        </p:blipFill>
        <p:spPr>
          <a:xfrm>
            <a:off x="4439822" y="3707403"/>
            <a:ext cx="353293" cy="353293"/>
          </a:xfrm>
          <a:prstGeom prst="rect">
            <a:avLst/>
          </a:prstGeom>
          <a:noFill/>
          <a:ln>
            <a:noFill/>
          </a:ln>
        </p:spPr>
      </p:pic>
      <p:pic>
        <p:nvPicPr>
          <p:cNvPr descr="Graphic 28" id="138" name="Google Shape;138;p18"/>
          <p:cNvPicPr preferRelativeResize="0"/>
          <p:nvPr/>
        </p:nvPicPr>
        <p:blipFill rotWithShape="1">
          <a:blip r:embed="rId3">
            <a:alphaModFix/>
          </a:blip>
          <a:srcRect b="0" l="0" r="0" t="0"/>
          <a:stretch/>
        </p:blipFill>
        <p:spPr>
          <a:xfrm>
            <a:off x="4439822" y="4093407"/>
            <a:ext cx="353293" cy="353293"/>
          </a:xfrm>
          <a:prstGeom prst="rect">
            <a:avLst/>
          </a:prstGeom>
          <a:noFill/>
          <a:ln>
            <a:noFill/>
          </a:ln>
        </p:spPr>
      </p:pic>
      <p:pic>
        <p:nvPicPr>
          <p:cNvPr descr="Graphic 34" id="139" name="Google Shape;139;p18"/>
          <p:cNvPicPr preferRelativeResize="0"/>
          <p:nvPr/>
        </p:nvPicPr>
        <p:blipFill rotWithShape="1">
          <a:blip r:embed="rId4">
            <a:alphaModFix/>
          </a:blip>
          <a:srcRect b="0" l="0" r="0" t="0"/>
          <a:stretch/>
        </p:blipFill>
        <p:spPr>
          <a:xfrm>
            <a:off x="8478514" y="3337095"/>
            <a:ext cx="353294" cy="353294"/>
          </a:xfrm>
          <a:prstGeom prst="rect">
            <a:avLst/>
          </a:prstGeom>
          <a:noFill/>
          <a:ln>
            <a:noFill/>
          </a:ln>
        </p:spPr>
      </p:pic>
      <p:pic>
        <p:nvPicPr>
          <p:cNvPr descr="Graphic 34" id="140" name="Google Shape;140;p18"/>
          <p:cNvPicPr preferRelativeResize="0"/>
          <p:nvPr/>
        </p:nvPicPr>
        <p:blipFill rotWithShape="1">
          <a:blip r:embed="rId4">
            <a:alphaModFix/>
          </a:blip>
          <a:srcRect b="0" l="0" r="0" t="0"/>
          <a:stretch/>
        </p:blipFill>
        <p:spPr>
          <a:xfrm>
            <a:off x="8478514" y="3707457"/>
            <a:ext cx="353294" cy="353294"/>
          </a:xfrm>
          <a:prstGeom prst="rect">
            <a:avLst/>
          </a:prstGeom>
          <a:noFill/>
          <a:ln>
            <a:noFill/>
          </a:ln>
        </p:spPr>
      </p:pic>
      <p:pic>
        <p:nvPicPr>
          <p:cNvPr descr="Graphic 34" id="141" name="Google Shape;141;p18"/>
          <p:cNvPicPr preferRelativeResize="0"/>
          <p:nvPr/>
        </p:nvPicPr>
        <p:blipFill rotWithShape="1">
          <a:blip r:embed="rId4">
            <a:alphaModFix/>
          </a:blip>
          <a:srcRect b="0" l="0" r="0" t="0"/>
          <a:stretch/>
        </p:blipFill>
        <p:spPr>
          <a:xfrm>
            <a:off x="8478514" y="2597798"/>
            <a:ext cx="353294" cy="353294"/>
          </a:xfrm>
          <a:prstGeom prst="rect">
            <a:avLst/>
          </a:prstGeom>
          <a:noFill/>
          <a:ln>
            <a:noFill/>
          </a:ln>
        </p:spPr>
      </p:pic>
      <p:pic>
        <p:nvPicPr>
          <p:cNvPr descr="Graphic 33" id="142" name="Google Shape;142;p18"/>
          <p:cNvPicPr preferRelativeResize="0"/>
          <p:nvPr/>
        </p:nvPicPr>
        <p:blipFill rotWithShape="1">
          <a:blip r:embed="rId3">
            <a:alphaModFix/>
          </a:blip>
          <a:srcRect b="0" l="0" r="0" t="0"/>
          <a:stretch/>
        </p:blipFill>
        <p:spPr>
          <a:xfrm>
            <a:off x="8478514" y="2968254"/>
            <a:ext cx="353293" cy="353293"/>
          </a:xfrm>
          <a:prstGeom prst="rect">
            <a:avLst/>
          </a:prstGeom>
          <a:noFill/>
          <a:ln>
            <a:noFill/>
          </a:ln>
        </p:spPr>
      </p:pic>
      <p:pic>
        <p:nvPicPr>
          <p:cNvPr descr="Graphic 34" id="143" name="Google Shape;143;p18"/>
          <p:cNvPicPr preferRelativeResize="0"/>
          <p:nvPr/>
        </p:nvPicPr>
        <p:blipFill rotWithShape="1">
          <a:blip r:embed="rId4">
            <a:alphaModFix/>
          </a:blip>
          <a:srcRect b="0" l="0" r="0" t="0"/>
          <a:stretch/>
        </p:blipFill>
        <p:spPr>
          <a:xfrm>
            <a:off x="8895291" y="3707439"/>
            <a:ext cx="353294" cy="353294"/>
          </a:xfrm>
          <a:prstGeom prst="rect">
            <a:avLst/>
          </a:prstGeom>
          <a:noFill/>
          <a:ln>
            <a:noFill/>
          </a:ln>
        </p:spPr>
      </p:pic>
      <p:pic>
        <p:nvPicPr>
          <p:cNvPr descr="Graphic 34" id="144" name="Google Shape;144;p18"/>
          <p:cNvPicPr preferRelativeResize="0"/>
          <p:nvPr/>
        </p:nvPicPr>
        <p:blipFill rotWithShape="1">
          <a:blip r:embed="rId4">
            <a:alphaModFix/>
          </a:blip>
          <a:srcRect b="0" l="0" r="0" t="0"/>
          <a:stretch/>
        </p:blipFill>
        <p:spPr>
          <a:xfrm>
            <a:off x="8895291" y="3352681"/>
            <a:ext cx="353294" cy="353294"/>
          </a:xfrm>
          <a:prstGeom prst="rect">
            <a:avLst/>
          </a:prstGeom>
          <a:noFill/>
          <a:ln>
            <a:noFill/>
          </a:ln>
        </p:spPr>
      </p:pic>
      <p:pic>
        <p:nvPicPr>
          <p:cNvPr descr="Graphic 34" id="145" name="Google Shape;145;p18"/>
          <p:cNvPicPr preferRelativeResize="0"/>
          <p:nvPr/>
        </p:nvPicPr>
        <p:blipFill rotWithShape="1">
          <a:blip r:embed="rId4">
            <a:alphaModFix/>
          </a:blip>
          <a:srcRect b="0" l="0" r="0" t="0"/>
          <a:stretch/>
        </p:blipFill>
        <p:spPr>
          <a:xfrm>
            <a:off x="8895291" y="2587371"/>
            <a:ext cx="353294" cy="353294"/>
          </a:xfrm>
          <a:prstGeom prst="rect">
            <a:avLst/>
          </a:prstGeom>
          <a:noFill/>
          <a:ln>
            <a:noFill/>
          </a:ln>
        </p:spPr>
      </p:pic>
      <p:pic>
        <p:nvPicPr>
          <p:cNvPr descr="Graphic 33" id="146" name="Google Shape;146;p18"/>
          <p:cNvPicPr preferRelativeResize="0"/>
          <p:nvPr/>
        </p:nvPicPr>
        <p:blipFill rotWithShape="1">
          <a:blip r:embed="rId3">
            <a:alphaModFix/>
          </a:blip>
          <a:srcRect b="0" l="0" r="0" t="0"/>
          <a:stretch/>
        </p:blipFill>
        <p:spPr>
          <a:xfrm>
            <a:off x="8895291" y="2968254"/>
            <a:ext cx="353293" cy="353293"/>
          </a:xfrm>
          <a:prstGeom prst="rect">
            <a:avLst/>
          </a:prstGeom>
          <a:noFill/>
          <a:ln>
            <a:noFill/>
          </a:ln>
        </p:spPr>
      </p:pic>
      <p:pic>
        <p:nvPicPr>
          <p:cNvPr descr="Graphic 34" id="147" name="Google Shape;147;p18"/>
          <p:cNvPicPr preferRelativeResize="0"/>
          <p:nvPr/>
        </p:nvPicPr>
        <p:blipFill rotWithShape="1">
          <a:blip r:embed="rId4">
            <a:alphaModFix/>
          </a:blip>
          <a:srcRect b="0" l="0" r="0" t="0"/>
          <a:stretch/>
        </p:blipFill>
        <p:spPr>
          <a:xfrm>
            <a:off x="9312068" y="2597798"/>
            <a:ext cx="353294" cy="353294"/>
          </a:xfrm>
          <a:prstGeom prst="rect">
            <a:avLst/>
          </a:prstGeom>
          <a:noFill/>
          <a:ln>
            <a:noFill/>
          </a:ln>
        </p:spPr>
      </p:pic>
      <p:pic>
        <p:nvPicPr>
          <p:cNvPr descr="Graphic 34" id="148" name="Google Shape;148;p18"/>
          <p:cNvPicPr preferRelativeResize="0"/>
          <p:nvPr/>
        </p:nvPicPr>
        <p:blipFill rotWithShape="1">
          <a:blip r:embed="rId4">
            <a:alphaModFix/>
          </a:blip>
          <a:srcRect b="0" l="0" r="0" t="0"/>
          <a:stretch/>
        </p:blipFill>
        <p:spPr>
          <a:xfrm>
            <a:off x="9312068" y="3252389"/>
            <a:ext cx="353294" cy="353294"/>
          </a:xfrm>
          <a:prstGeom prst="rect">
            <a:avLst/>
          </a:prstGeom>
          <a:noFill/>
          <a:ln>
            <a:noFill/>
          </a:ln>
        </p:spPr>
      </p:pic>
      <p:pic>
        <p:nvPicPr>
          <p:cNvPr descr="Graphic 34" id="149" name="Google Shape;149;p18"/>
          <p:cNvPicPr preferRelativeResize="0"/>
          <p:nvPr/>
        </p:nvPicPr>
        <p:blipFill rotWithShape="1">
          <a:blip r:embed="rId4">
            <a:alphaModFix/>
          </a:blip>
          <a:srcRect b="0" l="0" r="0" t="0"/>
          <a:stretch/>
        </p:blipFill>
        <p:spPr>
          <a:xfrm>
            <a:off x="9312068" y="3700631"/>
            <a:ext cx="353294" cy="353294"/>
          </a:xfrm>
          <a:prstGeom prst="rect">
            <a:avLst/>
          </a:prstGeom>
          <a:noFill/>
          <a:ln>
            <a:noFill/>
          </a:ln>
        </p:spPr>
      </p:pic>
      <p:pic>
        <p:nvPicPr>
          <p:cNvPr descr="Graphic 33" id="150" name="Google Shape;150;p18"/>
          <p:cNvPicPr preferRelativeResize="0"/>
          <p:nvPr/>
        </p:nvPicPr>
        <p:blipFill rotWithShape="1">
          <a:blip r:embed="rId3">
            <a:alphaModFix/>
          </a:blip>
          <a:srcRect b="0" l="0" r="0" t="0"/>
          <a:stretch/>
        </p:blipFill>
        <p:spPr>
          <a:xfrm>
            <a:off x="9312068" y="2968254"/>
            <a:ext cx="353293" cy="353293"/>
          </a:xfrm>
          <a:prstGeom prst="rect">
            <a:avLst/>
          </a:prstGeom>
          <a:noFill/>
          <a:ln>
            <a:noFill/>
          </a:ln>
        </p:spPr>
      </p:pic>
      <p:pic>
        <p:nvPicPr>
          <p:cNvPr descr="Graphic 34" id="151" name="Google Shape;151;p18"/>
          <p:cNvPicPr preferRelativeResize="0"/>
          <p:nvPr/>
        </p:nvPicPr>
        <p:blipFill rotWithShape="1">
          <a:blip r:embed="rId4">
            <a:alphaModFix/>
          </a:blip>
          <a:srcRect b="0" l="0" r="0" t="0"/>
          <a:stretch/>
        </p:blipFill>
        <p:spPr>
          <a:xfrm>
            <a:off x="6296855" y="3329363"/>
            <a:ext cx="353294" cy="353294"/>
          </a:xfrm>
          <a:prstGeom prst="rect">
            <a:avLst/>
          </a:prstGeom>
          <a:noFill/>
          <a:ln>
            <a:noFill/>
          </a:ln>
        </p:spPr>
      </p:pic>
      <p:pic>
        <p:nvPicPr>
          <p:cNvPr descr="Graphic 34" id="152" name="Google Shape;152;p18"/>
          <p:cNvPicPr preferRelativeResize="0"/>
          <p:nvPr/>
        </p:nvPicPr>
        <p:blipFill rotWithShape="1">
          <a:blip r:embed="rId4">
            <a:alphaModFix/>
          </a:blip>
          <a:srcRect b="0" l="0" r="0" t="0"/>
          <a:stretch/>
        </p:blipFill>
        <p:spPr>
          <a:xfrm>
            <a:off x="6296855" y="2587371"/>
            <a:ext cx="353294" cy="353294"/>
          </a:xfrm>
          <a:prstGeom prst="rect">
            <a:avLst/>
          </a:prstGeom>
          <a:noFill/>
          <a:ln>
            <a:noFill/>
          </a:ln>
        </p:spPr>
      </p:pic>
      <p:pic>
        <p:nvPicPr>
          <p:cNvPr descr="Graphic 34" id="153" name="Google Shape;153;p18"/>
          <p:cNvPicPr preferRelativeResize="0"/>
          <p:nvPr/>
        </p:nvPicPr>
        <p:blipFill rotWithShape="1">
          <a:blip r:embed="rId4">
            <a:alphaModFix/>
          </a:blip>
          <a:srcRect b="0" l="0" r="0" t="0"/>
          <a:stretch/>
        </p:blipFill>
        <p:spPr>
          <a:xfrm>
            <a:off x="6296855" y="3700631"/>
            <a:ext cx="353294" cy="353294"/>
          </a:xfrm>
          <a:prstGeom prst="rect">
            <a:avLst/>
          </a:prstGeom>
          <a:noFill/>
          <a:ln>
            <a:noFill/>
          </a:ln>
        </p:spPr>
      </p:pic>
      <p:pic>
        <p:nvPicPr>
          <p:cNvPr descr="Graphic 33" id="154" name="Google Shape;154;p18"/>
          <p:cNvPicPr preferRelativeResize="0"/>
          <p:nvPr/>
        </p:nvPicPr>
        <p:blipFill rotWithShape="1">
          <a:blip r:embed="rId3">
            <a:alphaModFix/>
          </a:blip>
          <a:srcRect b="0" l="0" r="0" t="0"/>
          <a:stretch/>
        </p:blipFill>
        <p:spPr>
          <a:xfrm>
            <a:off x="6296855" y="2961445"/>
            <a:ext cx="353293" cy="353293"/>
          </a:xfrm>
          <a:prstGeom prst="rect">
            <a:avLst/>
          </a:prstGeom>
          <a:noFill/>
          <a:ln>
            <a:noFill/>
          </a:ln>
        </p:spPr>
      </p:pic>
      <p:pic>
        <p:nvPicPr>
          <p:cNvPr descr="Graphic 33" id="155" name="Google Shape;155;p18"/>
          <p:cNvPicPr preferRelativeResize="0"/>
          <p:nvPr/>
        </p:nvPicPr>
        <p:blipFill rotWithShape="1">
          <a:blip r:embed="rId3">
            <a:alphaModFix/>
          </a:blip>
          <a:srcRect b="0" l="0" r="0" t="0"/>
          <a:stretch/>
        </p:blipFill>
        <p:spPr>
          <a:xfrm>
            <a:off x="6667592" y="2961445"/>
            <a:ext cx="353293" cy="353293"/>
          </a:xfrm>
          <a:prstGeom prst="rect">
            <a:avLst/>
          </a:prstGeom>
          <a:noFill/>
          <a:ln>
            <a:noFill/>
          </a:ln>
        </p:spPr>
      </p:pic>
      <p:pic>
        <p:nvPicPr>
          <p:cNvPr descr="Graphic 34" id="156" name="Google Shape;156;p18"/>
          <p:cNvPicPr preferRelativeResize="0"/>
          <p:nvPr/>
        </p:nvPicPr>
        <p:blipFill rotWithShape="1">
          <a:blip r:embed="rId4">
            <a:alphaModFix/>
          </a:blip>
          <a:srcRect b="0" l="0" r="0" t="0"/>
          <a:stretch/>
        </p:blipFill>
        <p:spPr>
          <a:xfrm>
            <a:off x="6667592" y="2597798"/>
            <a:ext cx="353294" cy="353294"/>
          </a:xfrm>
          <a:prstGeom prst="rect">
            <a:avLst/>
          </a:prstGeom>
          <a:noFill/>
          <a:ln>
            <a:noFill/>
          </a:ln>
        </p:spPr>
      </p:pic>
      <p:pic>
        <p:nvPicPr>
          <p:cNvPr descr="Graphic 34" id="157" name="Google Shape;157;p18"/>
          <p:cNvPicPr preferRelativeResize="0"/>
          <p:nvPr/>
        </p:nvPicPr>
        <p:blipFill rotWithShape="1">
          <a:blip r:embed="rId4">
            <a:alphaModFix/>
          </a:blip>
          <a:srcRect b="0" l="0" r="0" t="0"/>
          <a:stretch/>
        </p:blipFill>
        <p:spPr>
          <a:xfrm>
            <a:off x="6662876" y="3299900"/>
            <a:ext cx="353294" cy="353294"/>
          </a:xfrm>
          <a:prstGeom prst="rect">
            <a:avLst/>
          </a:prstGeom>
          <a:noFill/>
          <a:ln>
            <a:noFill/>
          </a:ln>
        </p:spPr>
      </p:pic>
      <p:pic>
        <p:nvPicPr>
          <p:cNvPr descr="Graphic 34" id="158" name="Google Shape;158;p18"/>
          <p:cNvPicPr preferRelativeResize="0"/>
          <p:nvPr/>
        </p:nvPicPr>
        <p:blipFill rotWithShape="1">
          <a:blip r:embed="rId4">
            <a:alphaModFix/>
          </a:blip>
          <a:srcRect b="0" l="0" r="0" t="0"/>
          <a:stretch/>
        </p:blipFill>
        <p:spPr>
          <a:xfrm>
            <a:off x="6667592" y="3700631"/>
            <a:ext cx="353294" cy="353294"/>
          </a:xfrm>
          <a:prstGeom prst="rect">
            <a:avLst/>
          </a:prstGeom>
          <a:noFill/>
          <a:ln>
            <a:noFill/>
          </a:ln>
        </p:spPr>
      </p:pic>
      <p:pic>
        <p:nvPicPr>
          <p:cNvPr descr="Graphic 6" id="159" name="Google Shape;159;p18"/>
          <p:cNvPicPr preferRelativeResize="0"/>
          <p:nvPr/>
        </p:nvPicPr>
        <p:blipFill rotWithShape="1">
          <a:blip r:embed="rId3">
            <a:alphaModFix/>
          </a:blip>
          <a:srcRect b="0" l="0" r="0" t="0"/>
          <a:stretch/>
        </p:blipFill>
        <p:spPr>
          <a:xfrm>
            <a:off x="7038257" y="4099055"/>
            <a:ext cx="353293" cy="353294"/>
          </a:xfrm>
          <a:prstGeom prst="rect">
            <a:avLst/>
          </a:prstGeom>
          <a:noFill/>
          <a:ln>
            <a:noFill/>
          </a:ln>
        </p:spPr>
      </p:pic>
      <p:pic>
        <p:nvPicPr>
          <p:cNvPr descr="Graphic 6" id="160" name="Google Shape;160;p18"/>
          <p:cNvPicPr preferRelativeResize="0"/>
          <p:nvPr/>
        </p:nvPicPr>
        <p:blipFill rotWithShape="1">
          <a:blip r:embed="rId3">
            <a:alphaModFix/>
          </a:blip>
          <a:srcRect b="0" l="0" r="0" t="0"/>
          <a:stretch/>
        </p:blipFill>
        <p:spPr>
          <a:xfrm>
            <a:off x="6667555" y="4099055"/>
            <a:ext cx="353293" cy="353294"/>
          </a:xfrm>
          <a:prstGeom prst="rect">
            <a:avLst/>
          </a:prstGeom>
          <a:noFill/>
          <a:ln>
            <a:noFill/>
          </a:ln>
        </p:spPr>
      </p:pic>
      <p:pic>
        <p:nvPicPr>
          <p:cNvPr descr="Graphic 6" id="161" name="Google Shape;161;p18"/>
          <p:cNvPicPr preferRelativeResize="0"/>
          <p:nvPr/>
        </p:nvPicPr>
        <p:blipFill rotWithShape="1">
          <a:blip r:embed="rId3">
            <a:alphaModFix/>
          </a:blip>
          <a:srcRect b="0" l="0" r="0" t="0"/>
          <a:stretch/>
        </p:blipFill>
        <p:spPr>
          <a:xfrm>
            <a:off x="6296819" y="4099055"/>
            <a:ext cx="353293" cy="353294"/>
          </a:xfrm>
          <a:prstGeom prst="rect">
            <a:avLst/>
          </a:prstGeom>
          <a:noFill/>
          <a:ln>
            <a:noFill/>
          </a:ln>
        </p:spPr>
      </p:pic>
      <p:pic>
        <p:nvPicPr>
          <p:cNvPr descr="Graphic 34" id="162" name="Google Shape;162;p18"/>
          <p:cNvPicPr preferRelativeResize="0"/>
          <p:nvPr/>
        </p:nvPicPr>
        <p:blipFill rotWithShape="1">
          <a:blip r:embed="rId4">
            <a:alphaModFix/>
          </a:blip>
          <a:srcRect b="0" l="0" r="0" t="0"/>
          <a:stretch/>
        </p:blipFill>
        <p:spPr>
          <a:xfrm>
            <a:off x="9312068" y="4077051"/>
            <a:ext cx="353294" cy="353294"/>
          </a:xfrm>
          <a:prstGeom prst="rect">
            <a:avLst/>
          </a:prstGeom>
          <a:noFill/>
          <a:ln>
            <a:noFill/>
          </a:ln>
        </p:spPr>
      </p:pic>
      <p:pic>
        <p:nvPicPr>
          <p:cNvPr descr="Graphic 34" id="163" name="Google Shape;163;p18"/>
          <p:cNvPicPr preferRelativeResize="0"/>
          <p:nvPr/>
        </p:nvPicPr>
        <p:blipFill rotWithShape="1">
          <a:blip r:embed="rId4">
            <a:alphaModFix/>
          </a:blip>
          <a:srcRect b="0" l="0" r="0" t="0"/>
          <a:stretch/>
        </p:blipFill>
        <p:spPr>
          <a:xfrm>
            <a:off x="8532638" y="4077051"/>
            <a:ext cx="353294" cy="353294"/>
          </a:xfrm>
          <a:prstGeom prst="rect">
            <a:avLst/>
          </a:prstGeom>
          <a:noFill/>
          <a:ln>
            <a:noFill/>
          </a:ln>
        </p:spPr>
      </p:pic>
      <p:pic>
        <p:nvPicPr>
          <p:cNvPr descr="Graphic 6" id="164" name="Google Shape;164;p18"/>
          <p:cNvPicPr preferRelativeResize="0"/>
          <p:nvPr/>
        </p:nvPicPr>
        <p:blipFill rotWithShape="1">
          <a:blip r:embed="rId3">
            <a:alphaModFix/>
          </a:blip>
          <a:srcRect b="0" l="0" r="0" t="0"/>
          <a:stretch/>
        </p:blipFill>
        <p:spPr>
          <a:xfrm>
            <a:off x="8920747" y="4111144"/>
            <a:ext cx="353293" cy="353293"/>
          </a:xfrm>
          <a:prstGeom prst="rect">
            <a:avLst/>
          </a:prstGeom>
          <a:noFill/>
          <a:ln>
            <a:noFill/>
          </a:ln>
        </p:spPr>
      </p:pic>
      <p:pic>
        <p:nvPicPr>
          <p:cNvPr descr="Graphic 34" id="165" name="Google Shape;165;p18"/>
          <p:cNvPicPr preferRelativeResize="0"/>
          <p:nvPr/>
        </p:nvPicPr>
        <p:blipFill rotWithShape="1">
          <a:blip r:embed="rId4">
            <a:alphaModFix/>
          </a:blip>
          <a:srcRect b="0" l="0" r="0" t="0"/>
          <a:stretch/>
        </p:blipFill>
        <p:spPr>
          <a:xfrm>
            <a:off x="7025564" y="2597798"/>
            <a:ext cx="353294" cy="353294"/>
          </a:xfrm>
          <a:prstGeom prst="rect">
            <a:avLst/>
          </a:prstGeom>
          <a:noFill/>
          <a:ln>
            <a:noFill/>
          </a:ln>
        </p:spPr>
      </p:pic>
      <p:pic>
        <p:nvPicPr>
          <p:cNvPr descr="Graphic 34" id="166" name="Google Shape;166;p18"/>
          <p:cNvPicPr preferRelativeResize="0"/>
          <p:nvPr/>
        </p:nvPicPr>
        <p:blipFill rotWithShape="1">
          <a:blip r:embed="rId4">
            <a:alphaModFix/>
          </a:blip>
          <a:srcRect b="0" l="0" r="0" t="0"/>
          <a:stretch/>
        </p:blipFill>
        <p:spPr>
          <a:xfrm>
            <a:off x="7057307" y="3299900"/>
            <a:ext cx="353294" cy="353294"/>
          </a:xfrm>
          <a:prstGeom prst="rect">
            <a:avLst/>
          </a:prstGeom>
          <a:noFill/>
          <a:ln>
            <a:noFill/>
          </a:ln>
        </p:spPr>
      </p:pic>
      <p:pic>
        <p:nvPicPr>
          <p:cNvPr descr="Graphic 34" id="167" name="Google Shape;167;p18"/>
          <p:cNvPicPr preferRelativeResize="0"/>
          <p:nvPr/>
        </p:nvPicPr>
        <p:blipFill rotWithShape="1">
          <a:blip r:embed="rId4">
            <a:alphaModFix/>
          </a:blip>
          <a:srcRect b="0" l="0" r="0" t="0"/>
          <a:stretch/>
        </p:blipFill>
        <p:spPr>
          <a:xfrm>
            <a:off x="7057307" y="3700631"/>
            <a:ext cx="353294" cy="353294"/>
          </a:xfrm>
          <a:prstGeom prst="rect">
            <a:avLst/>
          </a:prstGeom>
          <a:noFill/>
          <a:ln>
            <a:noFill/>
          </a:ln>
        </p:spPr>
      </p:pic>
      <p:pic>
        <p:nvPicPr>
          <p:cNvPr descr="Graphic 33" id="168" name="Google Shape;168;p18"/>
          <p:cNvPicPr preferRelativeResize="0"/>
          <p:nvPr/>
        </p:nvPicPr>
        <p:blipFill rotWithShape="1">
          <a:blip r:embed="rId3">
            <a:alphaModFix/>
          </a:blip>
          <a:srcRect b="0" l="0" r="0" t="0"/>
          <a:stretch/>
        </p:blipFill>
        <p:spPr>
          <a:xfrm>
            <a:off x="7038255" y="2968254"/>
            <a:ext cx="353293" cy="35329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